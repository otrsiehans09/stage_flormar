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586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570894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-731520"/>
            <a:ext cx="3200400" cy="3200400"/>
          </a:xfrm>
          <a:prstGeom prst="ellipse">
            <a:avLst/>
          </a:prstGeom>
          <a:solidFill>
            <a:srgbClr val="6D2E46">
              <a:alpha val="25000"/>
            </a:srgbClr>
          </a:solidFill>
          <a:ln w="12700">
            <a:solidFill>
              <a:srgbClr val="6D2E46">
                <a:alpha val="2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772400" y="2926080"/>
            <a:ext cx="2011680" cy="2011680"/>
          </a:xfrm>
          <a:prstGeom prst="ellipse">
            <a:avLst/>
          </a:prstGeom>
          <a:solidFill>
            <a:srgbClr val="C8956B">
              <a:alpha val="20000"/>
            </a:srgbClr>
          </a:solidFill>
          <a:ln w="12700">
            <a:solidFill>
              <a:srgbClr val="C8956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457200" y="3657600"/>
            <a:ext cx="1645920" cy="1645920"/>
          </a:xfrm>
          <a:prstGeom prst="ellipse">
            <a:avLst/>
          </a:prstGeom>
          <a:solidFill>
            <a:srgbClr val="6D2E46">
              <a:alpha val="30000"/>
            </a:srgbClr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005840"/>
            <a:ext cx="54864" cy="2926080"/>
          </a:xfrm>
          <a:prstGeom prst="rect">
            <a:avLst/>
          </a:prstGeom>
          <a:solidFill>
            <a:srgbClr val="C8956B"/>
          </a:solidFill>
          <a:ln w="12700">
            <a:solidFill>
              <a:srgbClr val="C895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1005840"/>
            <a:ext cx="2144268" cy="256032"/>
          </a:xfrm>
          <a:prstGeom prst="roundRect">
            <a:avLst>
              <a:gd name="adj" fmla="val 50000"/>
            </a:avLst>
          </a:prstGeom>
          <a:solidFill>
            <a:srgbClr val="2D7D6F"/>
          </a:solidFill>
          <a:ln w="12700">
            <a:solidFill>
              <a:srgbClr val="2D7D6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005840"/>
            <a:ext cx="21442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Vision par Ordinateur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939796" y="1005840"/>
            <a:ext cx="1709928" cy="256032"/>
          </a:xfrm>
          <a:prstGeom prst="roundRect">
            <a:avLst>
              <a:gd name="adj" fmla="val 50000"/>
            </a:avLst>
          </a:prstGeom>
          <a:solidFill>
            <a:srgbClr val="2B5BA8"/>
          </a:solidFill>
          <a:ln w="12700">
            <a:solidFill>
              <a:srgbClr val="2B5BA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39796" y="1005840"/>
            <a:ext cx="1709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Machine Learning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759452" y="1005840"/>
            <a:ext cx="2057400" cy="256032"/>
          </a:xfrm>
          <a:prstGeom prst="roundRect">
            <a:avLst>
              <a:gd name="adj" fmla="val 50000"/>
            </a:avLst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9452" y="1005840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Cosmétique B2C + B2B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1463040"/>
            <a:ext cx="7315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Plateforme Intelligente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640080" y="2194560"/>
            <a:ext cx="7772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C895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d'Essai Virtuel Cosmétique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640080" y="3017520"/>
            <a:ext cx="7498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B8A0AA"/>
                </a:solidFill>
              </a:rPr>
              <a:t>Recommandation personnalisée basée sur la Vision par Ordinateur et le Machine Learning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0" y="4434840"/>
            <a:ext cx="9144000" cy="704088"/>
          </a:xfrm>
          <a:prstGeom prst="rect">
            <a:avLst/>
          </a:prstGeom>
          <a:solidFill>
            <a:srgbClr val="6D2E46">
              <a:alpha val="70000"/>
            </a:srgbClr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446227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8D5DC"/>
                </a:solidFill>
              </a:rPr>
              <a:t>Projet de Fin d'Études  |  </a:t>
            </a:r>
            <a:r>
              <a:rPr lang="en-US" sz="1100" b="1" dirty="0">
                <a:solidFill>
                  <a:srgbClr val="E8D5DC"/>
                </a:solidFill>
              </a:rPr>
              <a:t>5 mois  |  </a:t>
            </a:r>
            <a:r>
              <a:rPr lang="en-US" sz="1100" dirty="0">
                <a:solidFill>
                  <a:srgbClr val="E8D5DC"/>
                </a:solidFill>
              </a:rPr>
              <a:t>Encadrant académique : [Nom]  |  Encadrant entreprise : [Nom]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EE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 de présentation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960120"/>
            <a:ext cx="4114800" cy="1005840"/>
          </a:xfrm>
          <a:prstGeom prst="rect">
            <a:avLst/>
          </a:prstGeom>
          <a:solidFill>
            <a:srgbClr val="FDFAFB"/>
          </a:solidFill>
          <a:ln w="6350">
            <a:solidFill>
              <a:srgbClr val="6D2E46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960120"/>
            <a:ext cx="64008" cy="1005840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0352" y="1051560"/>
            <a:ext cx="640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234440" y="10515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0A14"/>
                </a:solidFill>
              </a:rPr>
              <a:t>Contexte &amp; Problématique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34440" y="1463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7B82"/>
                </a:solidFill>
              </a:rPr>
              <a:t>L'entreprise, le marché, les enjeux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2194560"/>
            <a:ext cx="4114800" cy="1005840"/>
          </a:xfrm>
          <a:prstGeom prst="rect">
            <a:avLst/>
          </a:prstGeom>
          <a:solidFill>
            <a:srgbClr val="FDFAFB"/>
          </a:solidFill>
          <a:ln w="6350">
            <a:solidFill>
              <a:srgbClr val="2D7D6F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5760" y="2194560"/>
            <a:ext cx="64008" cy="1005840"/>
          </a:xfrm>
          <a:prstGeom prst="rect">
            <a:avLst/>
          </a:prstGeom>
          <a:solidFill>
            <a:srgbClr val="2D7D6F"/>
          </a:solidFill>
          <a:ln w="12700">
            <a:solidFill>
              <a:srgbClr val="2D7D6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30352" y="2286000"/>
            <a:ext cx="640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D7D6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1234440" y="22860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0A14"/>
                </a:solidFill>
              </a:rPr>
              <a:t>Objectifs du projet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34440" y="26974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7B82"/>
                </a:solidFill>
              </a:rPr>
              <a:t>Ce que la plateforme va accomplir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5760" y="3429000"/>
            <a:ext cx="4114800" cy="1005840"/>
          </a:xfrm>
          <a:prstGeom prst="rect">
            <a:avLst/>
          </a:prstGeom>
          <a:solidFill>
            <a:srgbClr val="FDFAFB"/>
          </a:solidFill>
          <a:ln w="6350">
            <a:solidFill>
              <a:srgbClr val="2B5BA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65760" y="3429000"/>
            <a:ext cx="64008" cy="1005840"/>
          </a:xfrm>
          <a:prstGeom prst="rect">
            <a:avLst/>
          </a:prstGeom>
          <a:solidFill>
            <a:srgbClr val="2B5BA8"/>
          </a:solidFill>
          <a:ln w="12700">
            <a:solidFill>
              <a:srgbClr val="2B5BA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0352" y="3520440"/>
            <a:ext cx="640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B5B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1234440" y="35204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0A14"/>
                </a:solidFill>
              </a:rPr>
              <a:t>Architecture technique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234440" y="39319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7B82"/>
                </a:solidFill>
              </a:rPr>
              <a:t>CV, ML, Full-Stack, données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846320" y="960120"/>
            <a:ext cx="4114800" cy="1005840"/>
          </a:xfrm>
          <a:prstGeom prst="rect">
            <a:avLst/>
          </a:prstGeom>
          <a:solidFill>
            <a:srgbClr val="FDFAFB"/>
          </a:solidFill>
          <a:ln w="6350">
            <a:solidFill>
              <a:srgbClr val="B85C3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846320" y="960120"/>
            <a:ext cx="64008" cy="1005840"/>
          </a:xfrm>
          <a:prstGeom prst="rect">
            <a:avLst/>
          </a:prstGeom>
          <a:solidFill>
            <a:srgbClr val="B85C38"/>
          </a:solidFill>
          <a:ln w="12700">
            <a:solidFill>
              <a:srgbClr val="B85C3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10912" y="1051560"/>
            <a:ext cx="640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B85C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5715000" y="10515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0A14"/>
                </a:solidFill>
              </a:rPr>
              <a:t>Modules détaillés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715000" y="1463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7B82"/>
                </a:solidFill>
              </a:rPr>
              <a:t>Essai virtuel &amp; Recommandation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846320" y="2194560"/>
            <a:ext cx="4114800" cy="1005840"/>
          </a:xfrm>
          <a:prstGeom prst="rect">
            <a:avLst/>
          </a:prstGeom>
          <a:solidFill>
            <a:srgbClr val="FDFAFB"/>
          </a:solidFill>
          <a:ln w="6350">
            <a:solidFill>
              <a:srgbClr val="6D2E46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846320" y="2194560"/>
            <a:ext cx="64008" cy="1005840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10912" y="2286000"/>
            <a:ext cx="640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5715000" y="22860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0A14"/>
                </a:solidFill>
              </a:rPr>
              <a:t>Planning &amp; Livrables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715000" y="26974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7B82"/>
                </a:solidFill>
              </a:rPr>
              <a:t>Roadmap 5 mois, jalons clés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846320" y="3429000"/>
            <a:ext cx="4114800" cy="1005840"/>
          </a:xfrm>
          <a:prstGeom prst="rect">
            <a:avLst/>
          </a:prstGeom>
          <a:solidFill>
            <a:srgbClr val="FDFAFB"/>
          </a:solidFill>
          <a:ln w="6350">
            <a:solidFill>
              <a:srgbClr val="2D7D6F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846320" y="3429000"/>
            <a:ext cx="64008" cy="1005840"/>
          </a:xfrm>
          <a:prstGeom prst="rect">
            <a:avLst/>
          </a:prstGeom>
          <a:solidFill>
            <a:srgbClr val="2D7D6F"/>
          </a:solidFill>
          <a:ln w="12700">
            <a:solidFill>
              <a:srgbClr val="2D7D6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10912" y="3520440"/>
            <a:ext cx="640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D7D6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715000" y="35204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0A14"/>
                </a:solidFill>
              </a:rPr>
              <a:t>Cahier des charges validé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715000" y="39319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7B82"/>
                </a:solidFill>
              </a:rPr>
              <a:t>Périmètre, contraintes, KPIs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EE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01 — Contexte &amp; Problématique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1920240" cy="1325880"/>
          </a:xfrm>
          <a:prstGeom prst="rect">
            <a:avLst/>
          </a:prstGeom>
          <a:solidFill>
            <a:srgbClr val="FDFAFB"/>
          </a:solidFill>
          <a:ln w="6350">
            <a:solidFill>
              <a:srgbClr val="B85C3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868680"/>
            <a:ext cx="1920240" cy="64008"/>
          </a:xfrm>
          <a:prstGeom prst="rect">
            <a:avLst/>
          </a:prstGeom>
          <a:solidFill>
            <a:srgbClr val="B85C38"/>
          </a:solidFill>
          <a:ln w="12700">
            <a:solidFill>
              <a:srgbClr val="B85C3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005840"/>
            <a:ext cx="1920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B85C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73%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274320" y="1581912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A4A"/>
                </a:solidFill>
              </a:rPr>
              <a:t>des retours produits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A4A4A"/>
                </a:solidFill>
              </a:rPr>
              <a:t>dus à mauvaise teinte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450592" y="868680"/>
            <a:ext cx="1920240" cy="1325880"/>
          </a:xfrm>
          <a:prstGeom prst="rect">
            <a:avLst/>
          </a:prstGeom>
          <a:solidFill>
            <a:srgbClr val="FDFAFB"/>
          </a:solidFill>
          <a:ln w="6350">
            <a:solidFill>
              <a:srgbClr val="6D2E46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450592" y="868680"/>
            <a:ext cx="1920240" cy="64008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50592" y="1005840"/>
            <a:ext cx="1920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B2C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2450592" y="1581912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A4A"/>
                </a:solidFill>
              </a:rPr>
              <a:t>Grand public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A4A4A"/>
                </a:solidFill>
              </a:rPr>
              <a:t>e-commerce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6864" y="868680"/>
            <a:ext cx="1920240" cy="1325880"/>
          </a:xfrm>
          <a:prstGeom prst="rect">
            <a:avLst/>
          </a:prstGeom>
          <a:solidFill>
            <a:srgbClr val="FDFAFB"/>
          </a:solidFill>
          <a:ln w="6350">
            <a:solidFill>
              <a:srgbClr val="2D7D6F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26864" y="868680"/>
            <a:ext cx="1920240" cy="64008"/>
          </a:xfrm>
          <a:prstGeom prst="rect">
            <a:avLst/>
          </a:prstGeom>
          <a:solidFill>
            <a:srgbClr val="2D7D6F"/>
          </a:solidFill>
          <a:ln w="12700">
            <a:solidFill>
              <a:srgbClr val="2D7D6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26864" y="1005840"/>
            <a:ext cx="1920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D7D6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B2B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626864" y="1581912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A4A"/>
                </a:solidFill>
              </a:rPr>
              <a:t>Professionnels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A4A4A"/>
                </a:solidFill>
              </a:rPr>
              <a:t>beauté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03136" y="868680"/>
            <a:ext cx="1920240" cy="1325880"/>
          </a:xfrm>
          <a:prstGeom prst="rect">
            <a:avLst/>
          </a:prstGeom>
          <a:solidFill>
            <a:srgbClr val="FDFAFB"/>
          </a:solidFill>
          <a:ln w="6350">
            <a:solidFill>
              <a:srgbClr val="2B5BA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803136" y="868680"/>
            <a:ext cx="1920240" cy="64008"/>
          </a:xfrm>
          <a:prstGeom prst="rect">
            <a:avLst/>
          </a:prstGeom>
          <a:solidFill>
            <a:srgbClr val="2B5BA8"/>
          </a:solidFill>
          <a:ln w="12700">
            <a:solidFill>
              <a:srgbClr val="2B5BA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03136" y="1005840"/>
            <a:ext cx="1920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B5B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mois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6803136" y="1581912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A4A"/>
                </a:solidFill>
              </a:rPr>
              <a:t>Durée du projet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A4A4A"/>
                </a:solidFill>
              </a:rPr>
              <a:t>PFE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65760" y="23774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D2E46"/>
                </a:solidFill>
              </a:rPr>
              <a:t>Problématique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365760" y="2697480"/>
            <a:ext cx="8412480" cy="777240"/>
          </a:xfrm>
          <a:prstGeom prst="rect">
            <a:avLst/>
          </a:prstGeom>
          <a:solidFill>
            <a:srgbClr val="F9F0F4"/>
          </a:solidFill>
          <a:ln w="6350">
            <a:solidFill>
              <a:srgbClr val="6D2E46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2697480"/>
            <a:ext cx="64008" cy="777240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2724912"/>
            <a:ext cx="8092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1A0A14"/>
                </a:solidFill>
              </a:rPr>
              <a:t>Comment permettre aux clients B2C et aux professionnels B2B d'essayer virtuellement les produits cosmétiques et de recevoir des recommandations personnalisées, en exploitant la vision par ordinateur et le machine learning ?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65760" y="36118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4A4A"/>
                </a:solidFill>
              </a:rPr>
              <a:t>Produits prioritaires :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1881707" y="3638212"/>
            <a:ext cx="1645428" cy="256032"/>
          </a:xfrm>
          <a:prstGeom prst="roundRect">
            <a:avLst>
              <a:gd name="adj" fmla="val 50000"/>
            </a:avLst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72097" y="3646255"/>
            <a:ext cx="13000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Gloss / Rouge à lèvres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3721524" y="3646255"/>
            <a:ext cx="1798743" cy="256032"/>
          </a:xfrm>
          <a:prstGeom prst="roundRect">
            <a:avLst>
              <a:gd name="adj" fmla="val 50000"/>
            </a:avLst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935639" y="3631777"/>
            <a:ext cx="127272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Fond de teint / BB Cream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688481" y="3662588"/>
            <a:ext cx="1607515" cy="256032"/>
          </a:xfrm>
          <a:prstGeom prst="roundRect">
            <a:avLst>
              <a:gd name="adj" fmla="val 50000"/>
            </a:avLst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869619" y="3662588"/>
            <a:ext cx="11716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Fard à paupières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7376505" y="3653444"/>
            <a:ext cx="1483016" cy="256032"/>
          </a:xfrm>
          <a:prstGeom prst="roundRect">
            <a:avLst>
              <a:gd name="adj" fmla="val 50000"/>
            </a:avLst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441869" y="3653444"/>
            <a:ext cx="14176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Blush · Bronzer · Highlighter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65760" y="40690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4A4A"/>
                </a:solidFill>
              </a:rPr>
              <a:t>Présence digitale existante : </a:t>
            </a:r>
            <a:r>
              <a:rPr lang="en-US" sz="1200" dirty="0">
                <a:solidFill>
                  <a:srgbClr val="2D7D6F"/>
                </a:solidFill>
              </a:rPr>
              <a:t>Site e-commerce  +  Réseaux sociaux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EE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D7D6F"/>
          </a:solidFill>
          <a:ln w="12700">
            <a:solidFill>
              <a:srgbClr val="2D7D6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02 — Objectifs du Projet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4114800" cy="1828800"/>
          </a:xfrm>
          <a:prstGeom prst="rect">
            <a:avLst/>
          </a:prstGeom>
          <a:solidFill>
            <a:srgbClr val="FDFAFB"/>
          </a:solidFill>
          <a:ln w="6350">
            <a:solidFill>
              <a:srgbClr val="6D2E46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868680"/>
            <a:ext cx="64008" cy="1828800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38912" y="1033272"/>
            <a:ext cx="502920" cy="502920"/>
          </a:xfrm>
          <a:prstGeom prst="ellipse">
            <a:avLst/>
          </a:prstGeom>
          <a:solidFill>
            <a:srgbClr val="6D2E46">
              <a:alpha val="15000"/>
            </a:srgbClr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38912" y="10332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👁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51560" y="1033272"/>
            <a:ext cx="24952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0A14"/>
                </a:solidFill>
              </a:rPr>
              <a:t>Essai virtuel temps réel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051560" y="1344168"/>
            <a:ext cx="2011680" cy="219456"/>
          </a:xfrm>
          <a:prstGeom prst="roundRect">
            <a:avLst>
              <a:gd name="adj" fmla="val 50000"/>
            </a:avLst>
          </a:prstGeom>
          <a:solidFill>
            <a:srgbClr val="6D2E46">
              <a:alpha val="15000"/>
            </a:srgbClr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1560" y="1344168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6D2E46"/>
                </a:solidFill>
              </a:rPr>
              <a:t>&lt; 100ms · ≥ 25 FPS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38912" y="1691640"/>
            <a:ext cx="3794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</a:rPr>
              <a:t>Détecter le visage, segmenter les zones (lèvres, yeux, joues) et appliquer le maquillage en direct via la caméra.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36592" y="868680"/>
            <a:ext cx="4114800" cy="1828800"/>
          </a:xfrm>
          <a:prstGeom prst="rect">
            <a:avLst/>
          </a:prstGeom>
          <a:solidFill>
            <a:srgbClr val="FDFAFB"/>
          </a:solidFill>
          <a:ln w="6350">
            <a:solidFill>
              <a:srgbClr val="2B5BA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36592" y="868680"/>
            <a:ext cx="64008" cy="1828800"/>
          </a:xfrm>
          <a:prstGeom prst="rect">
            <a:avLst/>
          </a:prstGeom>
          <a:solidFill>
            <a:srgbClr val="2B5BA8"/>
          </a:solidFill>
          <a:ln w="12700">
            <a:solidFill>
              <a:srgbClr val="2B5BA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01184" y="1033272"/>
            <a:ext cx="502920" cy="502920"/>
          </a:xfrm>
          <a:prstGeom prst="ellipse">
            <a:avLst/>
          </a:prstGeom>
          <a:solidFill>
            <a:srgbClr val="2B5BA8">
              <a:alpha val="15000"/>
            </a:srgbClr>
          </a:solidFill>
          <a:ln w="12700">
            <a:solidFill>
              <a:srgbClr val="2B5BA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01184" y="10332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🤖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513832" y="1033272"/>
            <a:ext cx="2578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0A14"/>
                </a:solidFill>
              </a:rPr>
              <a:t>Recommandation personnalisée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513832" y="1344168"/>
            <a:ext cx="2011680" cy="219456"/>
          </a:xfrm>
          <a:prstGeom prst="roundRect">
            <a:avLst>
              <a:gd name="adj" fmla="val 50000"/>
            </a:avLst>
          </a:prstGeom>
          <a:solidFill>
            <a:srgbClr val="2B5BA8">
              <a:alpha val="15000"/>
            </a:srgbClr>
          </a:solidFill>
          <a:ln w="12700">
            <a:solidFill>
              <a:srgbClr val="2B5BA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513832" y="1344168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B5BA8"/>
                </a:solidFill>
              </a:rPr>
              <a:t>Precision@10 ≥ 70%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901184" y="1691640"/>
            <a:ext cx="3794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</a:rPr>
              <a:t>Analyser le profil utilisateur (teinte Fitzpatrick) et recommander les produits les plus adaptés.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74320" y="2880360"/>
            <a:ext cx="4114800" cy="1828800"/>
          </a:xfrm>
          <a:prstGeom prst="rect">
            <a:avLst/>
          </a:prstGeom>
          <a:solidFill>
            <a:srgbClr val="FDFAFB"/>
          </a:solidFill>
          <a:ln w="6350">
            <a:solidFill>
              <a:srgbClr val="2D7D6F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74320" y="2880360"/>
            <a:ext cx="64008" cy="1828800"/>
          </a:xfrm>
          <a:prstGeom prst="rect">
            <a:avLst/>
          </a:prstGeom>
          <a:solidFill>
            <a:srgbClr val="2D7D6F"/>
          </a:solidFill>
          <a:ln w="12700">
            <a:solidFill>
              <a:srgbClr val="2D7D6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8912" y="3044952"/>
            <a:ext cx="502920" cy="502920"/>
          </a:xfrm>
          <a:prstGeom prst="ellipse">
            <a:avLst/>
          </a:prstGeom>
          <a:solidFill>
            <a:srgbClr val="2D7D6F">
              <a:alpha val="15000"/>
            </a:srgbClr>
          </a:solidFill>
          <a:ln w="12700">
            <a:solidFill>
              <a:srgbClr val="2D7D6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8912" y="30449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🌐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51560" y="3044952"/>
            <a:ext cx="225274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0A14"/>
                </a:solidFill>
              </a:rPr>
              <a:t>Intégration e-commerce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1051560" y="3355848"/>
            <a:ext cx="2011680" cy="219456"/>
          </a:xfrm>
          <a:prstGeom prst="roundRect">
            <a:avLst>
              <a:gd name="adj" fmla="val 50000"/>
            </a:avLst>
          </a:prstGeom>
          <a:solidFill>
            <a:srgbClr val="2D7D6F">
              <a:alpha val="15000"/>
            </a:srgbClr>
          </a:solidFill>
          <a:ln w="12700">
            <a:solidFill>
              <a:srgbClr val="2D7D6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51560" y="3355848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D7D6F"/>
                </a:solidFill>
              </a:rPr>
              <a:t>API REST documentée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38912" y="3703320"/>
            <a:ext cx="3794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</a:rPr>
              <a:t>S'interfacer avec le site existant de l'entreprise pour rediriger vers l'achat et gérer le catalogue.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736592" y="2880360"/>
            <a:ext cx="4114800" cy="1828800"/>
          </a:xfrm>
          <a:prstGeom prst="rect">
            <a:avLst/>
          </a:prstGeom>
          <a:solidFill>
            <a:srgbClr val="FDFAFB"/>
          </a:solidFill>
          <a:ln w="6350">
            <a:solidFill>
              <a:srgbClr val="B85C3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736592" y="2880360"/>
            <a:ext cx="64008" cy="1828800"/>
          </a:xfrm>
          <a:prstGeom prst="rect">
            <a:avLst/>
          </a:prstGeom>
          <a:solidFill>
            <a:srgbClr val="B85C38"/>
          </a:solidFill>
          <a:ln w="12700">
            <a:solidFill>
              <a:srgbClr val="B85C3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901184" y="3044952"/>
            <a:ext cx="502920" cy="502920"/>
          </a:xfrm>
          <a:prstGeom prst="ellipse">
            <a:avLst/>
          </a:prstGeom>
          <a:solidFill>
            <a:srgbClr val="B85C38">
              <a:alpha val="15000"/>
            </a:srgbClr>
          </a:solidFill>
          <a:ln w="12700">
            <a:solidFill>
              <a:srgbClr val="B85C3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901184" y="30449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📊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5513832" y="3044952"/>
            <a:ext cx="209924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0A14"/>
                </a:solidFill>
              </a:rPr>
              <a:t>Dashboard B2B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513832" y="3355848"/>
            <a:ext cx="2011680" cy="219456"/>
          </a:xfrm>
          <a:prstGeom prst="roundRect">
            <a:avLst>
              <a:gd name="adj" fmla="val 50000"/>
            </a:avLst>
          </a:prstGeom>
          <a:solidFill>
            <a:srgbClr val="B85C38">
              <a:alpha val="15000"/>
            </a:srgbClr>
          </a:solidFill>
          <a:ln w="12700">
            <a:solidFill>
              <a:srgbClr val="B85C3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513832" y="3355848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B85C38"/>
                </a:solidFill>
              </a:rPr>
              <a:t>Statistiques &amp; gestion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901184" y="3703320"/>
            <a:ext cx="3794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</a:rPr>
              <a:t>Offrir aux professionnels un espace d'administration pour le catalogue et l'analyse des comportements.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2071B"/>
          </a:solidFill>
          <a:ln w="12700">
            <a:solidFill>
              <a:srgbClr val="12071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8956B"/>
                </a:solidFill>
              </a:rPr>
              <a:t>03 — Architecture Technique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48640" y="822960"/>
            <a:ext cx="8046720" cy="640080"/>
          </a:xfrm>
          <a:prstGeom prst="rect">
            <a:avLst/>
          </a:prstGeom>
          <a:solidFill>
            <a:srgbClr val="7C3D6B">
              <a:alpha val="70000"/>
            </a:srgbClr>
          </a:solidFill>
          <a:ln w="12700">
            <a:solidFill>
              <a:srgbClr val="7C3D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8686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Frontend — React + TensorFlow.js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85800" y="1161288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8A0C8"/>
                </a:solidFill>
              </a:rPr>
              <a:t>Caméra · Essai virtuel · UI Recommandation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8046720" cy="640080"/>
          </a:xfrm>
          <a:prstGeom prst="rect">
            <a:avLst/>
          </a:prstGeom>
          <a:solidFill>
            <a:srgbClr val="2A5C8F">
              <a:alpha val="70000"/>
            </a:srgbClr>
          </a:solidFill>
          <a:ln w="12700">
            <a:solidFill>
              <a:srgbClr val="2A5C8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6459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Backend — FastAPI (Python)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85800" y="1938528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8A0C8"/>
                </a:solidFill>
              </a:rPr>
              <a:t>Auth · Catalogue · Sessions · Routing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53128" y="2240280"/>
            <a:ext cx="228600" cy="320040"/>
          </a:xfrm>
          <a:prstGeom prst="rect">
            <a:avLst/>
          </a:prstGeom>
          <a:solidFill>
            <a:srgbClr val="C8956B"/>
          </a:solidFill>
          <a:ln w="12700">
            <a:solidFill>
              <a:srgbClr val="C895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5760" y="2560320"/>
            <a:ext cx="2651760" cy="1691640"/>
          </a:xfrm>
          <a:prstGeom prst="rect">
            <a:avLst/>
          </a:prstGeom>
          <a:solidFill>
            <a:srgbClr val="1F6B5E">
              <a:alpha val="75000"/>
            </a:srgbClr>
          </a:solidFill>
          <a:ln w="12700">
            <a:solidFill>
              <a:srgbClr val="1F6B5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5760" y="2560320"/>
            <a:ext cx="2651760" cy="347472"/>
          </a:xfrm>
          <a:prstGeom prst="rect">
            <a:avLst/>
          </a:prstGeom>
          <a:solidFill>
            <a:srgbClr val="1F6B5E"/>
          </a:solidFill>
          <a:ln w="12700">
            <a:solidFill>
              <a:srgbClr val="1F6B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56032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Module CV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2920" y="297180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8E8F0"/>
                </a:solidFill>
              </a:rPr>
              <a:t>▸  MediaPipe Face Mesh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02920" y="3273552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8E8F0"/>
                </a:solidFill>
              </a:rPr>
              <a:t>▸  OpenCV colorimétrie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2920" y="3575304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8E8F0"/>
                </a:solidFill>
              </a:rPr>
              <a:t>▸  Segmentation zones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02920" y="3877056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8E8F0"/>
                </a:solidFill>
              </a:rPr>
              <a:t>▸  Fitzpatrick Tone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246120" y="2560320"/>
            <a:ext cx="2651760" cy="1691640"/>
          </a:xfrm>
          <a:prstGeom prst="rect">
            <a:avLst/>
          </a:prstGeom>
          <a:solidFill>
            <a:srgbClr val="6D2E46">
              <a:alpha val="75000"/>
            </a:srgbClr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46120" y="2560320"/>
            <a:ext cx="2651760" cy="347472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37560" y="256032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Produits ciblés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383280" y="297180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8E8F0"/>
                </a:solidFill>
              </a:rPr>
              <a:t>▸  Gloss / Rouge lèvres ⭐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383280" y="3273552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8E8F0"/>
                </a:solidFill>
              </a:rPr>
              <a:t>▸  Fond de teint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383280" y="3575304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8E8F0"/>
                </a:solidFill>
              </a:rPr>
              <a:t>▸  Fard à paupières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383280" y="3877056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8E8F0"/>
                </a:solidFill>
              </a:rPr>
              <a:t>▸  Blush · Bronzer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126480" y="2560320"/>
            <a:ext cx="2651760" cy="1691640"/>
          </a:xfrm>
          <a:prstGeom prst="rect">
            <a:avLst/>
          </a:prstGeom>
          <a:solidFill>
            <a:srgbClr val="1B4E8F">
              <a:alpha val="75000"/>
            </a:srgbClr>
          </a:solidFill>
          <a:ln w="12700">
            <a:solidFill>
              <a:srgbClr val="1B4E8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126480" y="2560320"/>
            <a:ext cx="2651760" cy="347472"/>
          </a:xfrm>
          <a:prstGeom prst="rect">
            <a:avLst/>
          </a:prstGeom>
          <a:solidFill>
            <a:srgbClr val="1B4E8F"/>
          </a:solidFill>
          <a:ln w="12700">
            <a:solidFill>
              <a:srgbClr val="1B4E8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17920" y="256032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Module ML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263640" y="297180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8E8F0"/>
                </a:solidFill>
              </a:rPr>
              <a:t>▸  Scikit-learn clustering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263640" y="3273552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8E8F0"/>
                </a:solidFill>
              </a:rPr>
              <a:t>▸  Filtrage hybride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63640" y="3575304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8E8F0"/>
                </a:solidFill>
              </a:rPr>
              <a:t>▸  Profil utilisateur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263640" y="3877056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8E8F0"/>
                </a:solidFill>
              </a:rPr>
              <a:t>▸  FAISS similarité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48640" y="4343400"/>
            <a:ext cx="8046720" cy="548640"/>
          </a:xfrm>
          <a:prstGeom prst="rect">
            <a:avLst/>
          </a:prstGeom>
          <a:solidFill>
            <a:srgbClr val="2E2E2E">
              <a:alpha val="80000"/>
            </a:srgbClr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5800" y="434340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AAAAA"/>
                </a:solidFill>
              </a:rPr>
              <a:t>PostgreSQL  ·  Redis (cache sessions)  ·  Docker  ·  Cloud VPS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48640" y="4242816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888888"/>
                </a:solidFill>
              </a:rPr>
              <a:t>Base de données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EE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D7D6F"/>
          </a:solidFill>
          <a:ln w="12700">
            <a:solidFill>
              <a:srgbClr val="2D7D6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04a — Module Vision par Ordinateur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212848" y="2286000"/>
            <a:ext cx="228600" cy="91440"/>
          </a:xfrm>
          <a:prstGeom prst="rect">
            <a:avLst/>
          </a:prstGeom>
          <a:solidFill>
            <a:srgbClr val="8B7B82"/>
          </a:solidFill>
          <a:ln w="12700">
            <a:solidFill>
              <a:srgbClr val="8B7B8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231136" y="2231136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7B82"/>
                </a:solidFill>
              </a:rPr>
              <a:t>▶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74320" y="822960"/>
            <a:ext cx="1920240" cy="3246120"/>
          </a:xfrm>
          <a:prstGeom prst="rect">
            <a:avLst/>
          </a:prstGeom>
          <a:solidFill>
            <a:srgbClr val="FDFAFB"/>
          </a:solidFill>
          <a:ln w="6350">
            <a:solidFill>
              <a:srgbClr val="2D7D6F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822960"/>
            <a:ext cx="1920240" cy="347472"/>
          </a:xfrm>
          <a:prstGeom prst="rect">
            <a:avLst/>
          </a:prstGeom>
          <a:solidFill>
            <a:srgbClr val="2D7D6F"/>
          </a:solidFill>
          <a:ln w="12700">
            <a:solidFill>
              <a:srgbClr val="2D7D6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7472" y="822960"/>
            <a:ext cx="320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DDD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21792" y="822960"/>
            <a:ext cx="1508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Détection du visage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38912" y="1261872"/>
            <a:ext cx="1664208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</a:rPr>
              <a:t>MediaPipe Face Mesh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</a:rPr>
              <a:t>478 landmarks faciaux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</a:rPr>
              <a:t>Temps réel (caméra web)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89120" y="2286000"/>
            <a:ext cx="228600" cy="91440"/>
          </a:xfrm>
          <a:prstGeom prst="rect">
            <a:avLst/>
          </a:prstGeom>
          <a:solidFill>
            <a:srgbClr val="8B7B82"/>
          </a:solidFill>
          <a:ln w="12700">
            <a:solidFill>
              <a:srgbClr val="8B7B8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07408" y="2231136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7B82"/>
                </a:solidFill>
              </a:rPr>
              <a:t>▶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450592" y="822960"/>
            <a:ext cx="1920240" cy="3246120"/>
          </a:xfrm>
          <a:prstGeom prst="rect">
            <a:avLst/>
          </a:prstGeom>
          <a:solidFill>
            <a:srgbClr val="FDFAFB"/>
          </a:solidFill>
          <a:ln w="6350">
            <a:solidFill>
              <a:srgbClr val="6D2E46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450592" y="822960"/>
            <a:ext cx="1920240" cy="347472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523744" y="822960"/>
            <a:ext cx="320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DDD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798064" y="822960"/>
            <a:ext cx="1508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Analyse teinte peau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615184" y="1261872"/>
            <a:ext cx="1664208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</a:rPr>
              <a:t>Espace colorimétrique LAB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</a:rPr>
              <a:t>Échelle Fitzpatrick (6 types)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</a:rPr>
              <a:t>Zone joue landmark #234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565392" y="2286000"/>
            <a:ext cx="228600" cy="91440"/>
          </a:xfrm>
          <a:prstGeom prst="rect">
            <a:avLst/>
          </a:prstGeom>
          <a:solidFill>
            <a:srgbClr val="8B7B82"/>
          </a:solidFill>
          <a:ln w="12700">
            <a:solidFill>
              <a:srgbClr val="8B7B8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0" y="2231136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7B82"/>
                </a:solidFill>
              </a:rPr>
              <a:t>▶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626864" y="822960"/>
            <a:ext cx="1920240" cy="3246120"/>
          </a:xfrm>
          <a:prstGeom prst="rect">
            <a:avLst/>
          </a:prstGeom>
          <a:solidFill>
            <a:srgbClr val="FDFAFB"/>
          </a:solidFill>
          <a:ln w="6350">
            <a:solidFill>
              <a:srgbClr val="2B5BA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626864" y="822960"/>
            <a:ext cx="1920240" cy="347472"/>
          </a:xfrm>
          <a:prstGeom prst="rect">
            <a:avLst/>
          </a:prstGeom>
          <a:solidFill>
            <a:srgbClr val="2B5BA8"/>
          </a:solidFill>
          <a:ln w="12700">
            <a:solidFill>
              <a:srgbClr val="2B5BA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00016" y="822960"/>
            <a:ext cx="320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DDD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974336" y="822960"/>
            <a:ext cx="1508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Segmentation zones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791456" y="1261872"/>
            <a:ext cx="1664208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</a:rPr>
              <a:t>Lèvres · Yeux · Joues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</a:rPr>
              <a:t>Front · Pommettes · Nez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</a:rPr>
              <a:t>Contours précis polygons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803136" y="822960"/>
            <a:ext cx="1920240" cy="3246120"/>
          </a:xfrm>
          <a:prstGeom prst="rect">
            <a:avLst/>
          </a:prstGeom>
          <a:solidFill>
            <a:srgbClr val="FDFAFB"/>
          </a:solidFill>
          <a:ln w="6350">
            <a:solidFill>
              <a:srgbClr val="B85C3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803136" y="822960"/>
            <a:ext cx="1920240" cy="347472"/>
          </a:xfrm>
          <a:prstGeom prst="rect">
            <a:avLst/>
          </a:prstGeom>
          <a:solidFill>
            <a:srgbClr val="B85C38"/>
          </a:solidFill>
          <a:ln w="12700">
            <a:solidFill>
              <a:srgbClr val="B85C3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76288" y="822960"/>
            <a:ext cx="320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DDDD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150608" y="822960"/>
            <a:ext cx="1508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Application maquillage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967728" y="1261872"/>
            <a:ext cx="1664208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</a:rPr>
              <a:t>Couleur + opacité + finish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</a:rPr>
              <a:t>Effet brillant (gloss)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</a:rPr>
              <a:t>cv2.addWeighted() fusion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74320" y="4187952"/>
            <a:ext cx="8595360" cy="658368"/>
          </a:xfrm>
          <a:prstGeom prst="rect">
            <a:avLst/>
          </a:prstGeom>
          <a:solidFill>
            <a:srgbClr val="E8F5F2"/>
          </a:solidFill>
          <a:ln w="6350">
            <a:solidFill>
              <a:srgbClr val="2D7D6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7200" y="4206240"/>
            <a:ext cx="8321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D7D6F"/>
                </a:solidFill>
              </a:rPr>
              <a:t>Outil clé : </a:t>
            </a:r>
            <a:r>
              <a:rPr lang="en-US" sz="1100" dirty="0">
                <a:solidFill>
                  <a:srgbClr val="4A4A4A"/>
                </a:solidFill>
              </a:rPr>
              <a:t>MediaPipe FaceMesh de Google — 468 points landmarks, inférence GPU, &lt; 10ms/frame, compatible navigateur via TensorFlow.js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EE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B5BA8"/>
          </a:solidFill>
          <a:ln w="12700">
            <a:solidFill>
              <a:srgbClr val="2B5B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04b — Module Machine Learning &amp; Recommandation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5BA8"/>
                </a:solidFill>
              </a:rPr>
              <a:t>Analyse du profil utilisateur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3931920" cy="594360"/>
          </a:xfrm>
          <a:prstGeom prst="rect">
            <a:avLst/>
          </a:prstGeom>
          <a:solidFill>
            <a:srgbClr val="FDFAFB"/>
          </a:solidFill>
          <a:ln w="6350">
            <a:solidFill>
              <a:srgbClr val="2B5BA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188720"/>
            <a:ext cx="54864" cy="594360"/>
          </a:xfrm>
          <a:prstGeom prst="rect">
            <a:avLst/>
          </a:prstGeom>
          <a:solidFill>
            <a:srgbClr val="2B5BA8"/>
          </a:solidFill>
          <a:ln w="12700">
            <a:solidFill>
              <a:srgbClr val="2B5B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21615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0A14"/>
                </a:solidFill>
              </a:rPr>
              <a:t>Type de peau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148132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7B82"/>
                </a:solidFill>
              </a:rPr>
              <a:t>Fitzpatrick I–VI (LAB)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5760" y="1901952"/>
            <a:ext cx="3931920" cy="594360"/>
          </a:xfrm>
          <a:prstGeom prst="rect">
            <a:avLst/>
          </a:prstGeom>
          <a:solidFill>
            <a:srgbClr val="FDFAFB"/>
          </a:solidFill>
          <a:ln w="6350">
            <a:solidFill>
              <a:srgbClr val="2B5BA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5760" y="1901952"/>
            <a:ext cx="54864" cy="594360"/>
          </a:xfrm>
          <a:prstGeom prst="rect">
            <a:avLst/>
          </a:prstGeom>
          <a:solidFill>
            <a:srgbClr val="2B5BA8"/>
          </a:solidFill>
          <a:ln w="12700">
            <a:solidFill>
              <a:srgbClr val="2B5BA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929384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0A14"/>
                </a:solidFill>
              </a:rPr>
              <a:t>Historique essais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48640" y="21945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7B82"/>
                </a:solidFill>
              </a:rPr>
              <a:t>Produits essayés / aimés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65760" y="2615184"/>
            <a:ext cx="3931920" cy="594360"/>
          </a:xfrm>
          <a:prstGeom prst="rect">
            <a:avLst/>
          </a:prstGeom>
          <a:solidFill>
            <a:srgbClr val="FDFAFB"/>
          </a:solidFill>
          <a:ln w="6350">
            <a:solidFill>
              <a:srgbClr val="2B5BA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65760" y="2615184"/>
            <a:ext cx="54864" cy="594360"/>
          </a:xfrm>
          <a:prstGeom prst="rect">
            <a:avLst/>
          </a:prstGeom>
          <a:solidFill>
            <a:srgbClr val="2B5BA8"/>
          </a:solidFill>
          <a:ln w="12700">
            <a:solidFill>
              <a:srgbClr val="2B5BA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2642616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0A14"/>
                </a:solidFill>
              </a:rPr>
              <a:t>Préférences finish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2907792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7B82"/>
                </a:solidFill>
              </a:rPr>
              <a:t>Mat · Satiné · Brillant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3328416"/>
            <a:ext cx="3931920" cy="594360"/>
          </a:xfrm>
          <a:prstGeom prst="rect">
            <a:avLst/>
          </a:prstGeom>
          <a:solidFill>
            <a:srgbClr val="FDFAFB"/>
          </a:solidFill>
          <a:ln w="6350">
            <a:solidFill>
              <a:srgbClr val="2B5BA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65760" y="3328416"/>
            <a:ext cx="54864" cy="594360"/>
          </a:xfrm>
          <a:prstGeom prst="rect">
            <a:avLst/>
          </a:prstGeom>
          <a:solidFill>
            <a:srgbClr val="2B5BA8"/>
          </a:solidFill>
          <a:ln w="12700">
            <a:solidFill>
              <a:srgbClr val="2B5BA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335584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0A14"/>
                </a:solidFill>
              </a:rPr>
              <a:t>Undertones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48640" y="3621024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7B82"/>
                </a:solidFill>
              </a:rPr>
              <a:t>Chaud · Froid · Neutre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72000" y="82296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D2E46"/>
                </a:solidFill>
              </a:rPr>
              <a:t>Système de recommandation hybride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572000" y="1188720"/>
            <a:ext cx="4206240" cy="667512"/>
          </a:xfrm>
          <a:prstGeom prst="rect">
            <a:avLst/>
          </a:prstGeom>
          <a:solidFill>
            <a:srgbClr val="FDFAFB"/>
          </a:solidFill>
          <a:ln w="6350">
            <a:solidFill>
              <a:srgbClr val="6D2E46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0" y="1188720"/>
            <a:ext cx="54864" cy="667512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54880" y="126187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0A14"/>
                </a:solidFill>
              </a:rPr>
              <a:t>Filtrage collaboratif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754880" y="1554480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7B82"/>
                </a:solidFill>
              </a:rPr>
              <a:t>Utilisateurs aux profils similaires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572000" y="1993392"/>
            <a:ext cx="4206240" cy="667512"/>
          </a:xfrm>
          <a:prstGeom prst="rect">
            <a:avLst/>
          </a:prstGeom>
          <a:solidFill>
            <a:srgbClr val="FDFAFB"/>
          </a:solidFill>
          <a:ln w="6350">
            <a:solidFill>
              <a:srgbClr val="2D7D6F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0" y="1993392"/>
            <a:ext cx="54864" cy="667512"/>
          </a:xfrm>
          <a:prstGeom prst="rect">
            <a:avLst/>
          </a:prstGeom>
          <a:solidFill>
            <a:srgbClr val="2D7D6F"/>
          </a:solidFill>
          <a:ln w="12700">
            <a:solidFill>
              <a:srgbClr val="2D7D6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54880" y="2066544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0A14"/>
                </a:solidFill>
              </a:rPr>
              <a:t>Filtrage basé contenu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754880" y="2359152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7B82"/>
                </a:solidFill>
              </a:rPr>
              <a:t>Caractéristiques des produits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572000" y="2798064"/>
            <a:ext cx="4206240" cy="667512"/>
          </a:xfrm>
          <a:prstGeom prst="rect">
            <a:avLst/>
          </a:prstGeom>
          <a:solidFill>
            <a:srgbClr val="FDFAFB"/>
          </a:solidFill>
          <a:ln w="6350">
            <a:solidFill>
              <a:srgbClr val="2B5BA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572000" y="2798064"/>
            <a:ext cx="54864" cy="667512"/>
          </a:xfrm>
          <a:prstGeom prst="rect">
            <a:avLst/>
          </a:prstGeom>
          <a:solidFill>
            <a:srgbClr val="2B5BA8"/>
          </a:solidFill>
          <a:ln w="12700">
            <a:solidFill>
              <a:srgbClr val="2B5BA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2871216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0A14"/>
                </a:solidFill>
              </a:rPr>
              <a:t>Système hybride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754880" y="3163824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7B82"/>
                </a:solidFill>
              </a:rPr>
              <a:t>Collaboratif + Contenu = meilleure précision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572000" y="365760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4A4A"/>
                </a:solidFill>
              </a:rPr>
              <a:t>Métriques d'évaluation :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572000" y="3977640"/>
            <a:ext cx="868680" cy="256032"/>
          </a:xfrm>
          <a:prstGeom prst="roundRect">
            <a:avLst>
              <a:gd name="adj" fmla="val 50000"/>
            </a:avLst>
          </a:prstGeom>
          <a:solidFill>
            <a:srgbClr val="2B5BA8">
              <a:alpha val="15000"/>
            </a:srgbClr>
          </a:solidFill>
          <a:ln w="12700">
            <a:solidFill>
              <a:srgbClr val="2B5BA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72000" y="397764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B5BA8"/>
                </a:solidFill>
              </a:rPr>
              <a:t>Precision@K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32120" y="3977640"/>
            <a:ext cx="868680" cy="256032"/>
          </a:xfrm>
          <a:prstGeom prst="roundRect">
            <a:avLst>
              <a:gd name="adj" fmla="val 50000"/>
            </a:avLst>
          </a:prstGeom>
          <a:solidFill>
            <a:srgbClr val="2B5BA8">
              <a:alpha val="15000"/>
            </a:srgbClr>
          </a:solidFill>
          <a:ln w="12700">
            <a:solidFill>
              <a:srgbClr val="2B5BA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32120" y="397764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B5BA8"/>
                </a:solidFill>
              </a:rPr>
              <a:t>NDCG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492240" y="3977640"/>
            <a:ext cx="868680" cy="256032"/>
          </a:xfrm>
          <a:prstGeom prst="roundRect">
            <a:avLst>
              <a:gd name="adj" fmla="val 50000"/>
            </a:avLst>
          </a:prstGeom>
          <a:solidFill>
            <a:srgbClr val="2B5BA8">
              <a:alpha val="15000"/>
            </a:srgbClr>
          </a:solidFill>
          <a:ln w="12700">
            <a:solidFill>
              <a:srgbClr val="2B5BA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92240" y="397764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B5BA8"/>
                </a:solidFill>
              </a:rPr>
              <a:t>MAP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452360" y="3977640"/>
            <a:ext cx="868680" cy="256032"/>
          </a:xfrm>
          <a:prstGeom prst="roundRect">
            <a:avLst>
              <a:gd name="adj" fmla="val 50000"/>
            </a:avLst>
          </a:prstGeom>
          <a:solidFill>
            <a:srgbClr val="2B5BA8">
              <a:alpha val="15000"/>
            </a:srgbClr>
          </a:solidFill>
          <a:ln w="12700">
            <a:solidFill>
              <a:srgbClr val="2B5BA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452360" y="397764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B5BA8"/>
                </a:solidFill>
              </a:rPr>
              <a:t>F1-Score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264160" y="4494107"/>
            <a:ext cx="852763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4A4A"/>
                </a:solidFill>
              </a:rPr>
              <a:t>Stack ML :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542627" y="4434840"/>
            <a:ext cx="1307592" cy="256032"/>
          </a:xfrm>
          <a:prstGeom prst="roundRect">
            <a:avLst>
              <a:gd name="adj" fmla="val 50000"/>
            </a:avLst>
          </a:prstGeom>
          <a:solidFill>
            <a:srgbClr val="2D7D6F"/>
          </a:solidFill>
          <a:ln w="12700">
            <a:solidFill>
              <a:srgbClr val="2D7D6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598507" y="4434840"/>
            <a:ext cx="107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Scikit-learn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2990088" y="4436872"/>
            <a:ext cx="1636776" cy="256032"/>
          </a:xfrm>
          <a:prstGeom prst="roundRect">
            <a:avLst>
              <a:gd name="adj" fmla="val 50000"/>
            </a:avLst>
          </a:prstGeom>
          <a:solidFill>
            <a:srgbClr val="2D7D6F"/>
          </a:solidFill>
          <a:ln w="12700">
            <a:solidFill>
              <a:srgbClr val="2D7D6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043259" y="4427728"/>
            <a:ext cx="1426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TensorFlow/Keras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818888" y="4425696"/>
            <a:ext cx="1801368" cy="256032"/>
          </a:xfrm>
          <a:prstGeom prst="roundRect">
            <a:avLst>
              <a:gd name="adj" fmla="val 50000"/>
            </a:avLst>
          </a:prstGeom>
          <a:solidFill>
            <a:srgbClr val="2D7D6F"/>
          </a:solidFill>
          <a:ln w="12700">
            <a:solidFill>
              <a:srgbClr val="2D7D6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093208" y="4425696"/>
            <a:ext cx="125272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Surprise / LightFM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869853" y="443687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D7D6F"/>
          </a:solidFill>
          <a:ln w="12700">
            <a:solidFill>
              <a:srgbClr val="2D7D6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69853" y="4425696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FAISS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EE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05 — Planning &amp; Roadmap 5 mois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1554480" cy="4023360"/>
          </a:xfrm>
          <a:prstGeom prst="rect">
            <a:avLst/>
          </a:prstGeom>
          <a:solidFill>
            <a:srgbClr val="FDFAFB"/>
          </a:solidFill>
          <a:ln w="6350">
            <a:solidFill>
              <a:srgbClr val="6D2E46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822960"/>
            <a:ext cx="1554480" cy="594360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859536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Mois 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74320" y="1133856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</a:rPr>
              <a:t>Recherche &amp; Fondations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11480" y="1572768"/>
            <a:ext cx="164592" cy="164592"/>
          </a:xfrm>
          <a:prstGeom prst="ellipse">
            <a:avLst/>
          </a:prstGeom>
          <a:solidFill>
            <a:srgbClr val="6D2E46">
              <a:alpha val="40000"/>
            </a:srgbClr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545336"/>
            <a:ext cx="11155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4A4A"/>
                </a:solidFill>
              </a:rPr>
              <a:t>10 papers fondateurs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11480" y="2212848"/>
            <a:ext cx="164592" cy="164592"/>
          </a:xfrm>
          <a:prstGeom prst="ellipse">
            <a:avLst/>
          </a:prstGeom>
          <a:solidFill>
            <a:srgbClr val="6D2E46">
              <a:alpha val="40000"/>
            </a:srgbClr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185416"/>
            <a:ext cx="11155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4A4A"/>
                </a:solidFill>
              </a:rPr>
              <a:t>Cahier des charges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11480" y="2852928"/>
            <a:ext cx="164592" cy="164592"/>
          </a:xfrm>
          <a:prstGeom prst="ellipse">
            <a:avLst/>
          </a:prstGeom>
          <a:solidFill>
            <a:srgbClr val="6D2E46">
              <a:alpha val="40000"/>
            </a:srgbClr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2825496"/>
            <a:ext cx="11155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4A4A"/>
                </a:solidFill>
              </a:rPr>
              <a:t>Setup GitHub + Docker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11480" y="3493008"/>
            <a:ext cx="164592" cy="164592"/>
          </a:xfrm>
          <a:prstGeom prst="ellipse">
            <a:avLst/>
          </a:prstGeom>
          <a:solidFill>
            <a:srgbClr val="6D2E46">
              <a:alpha val="40000"/>
            </a:srgbClr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3465576"/>
            <a:ext cx="11155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4A4A"/>
                </a:solidFill>
              </a:rPr>
              <a:t>Démo MediaPipe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11480" y="4343400"/>
            <a:ext cx="1280160" cy="109728"/>
          </a:xfrm>
          <a:prstGeom prst="rect">
            <a:avLst/>
          </a:prstGeom>
          <a:solidFill>
            <a:srgbClr val="E8E0E3"/>
          </a:solidFill>
          <a:ln w="12700">
            <a:solidFill>
              <a:srgbClr val="E8E0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1480" y="4343400"/>
            <a:ext cx="1280160" cy="109728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320" y="4480560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7B82"/>
                </a:solidFill>
              </a:rPr>
              <a:t>100%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993392" y="822960"/>
            <a:ext cx="1554480" cy="4023360"/>
          </a:xfrm>
          <a:prstGeom prst="rect">
            <a:avLst/>
          </a:prstGeom>
          <a:solidFill>
            <a:srgbClr val="FDFAFB"/>
          </a:solidFill>
          <a:ln w="6350">
            <a:solidFill>
              <a:srgbClr val="2D7D6F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993392" y="822960"/>
            <a:ext cx="1554480" cy="594360"/>
          </a:xfrm>
          <a:prstGeom prst="rect">
            <a:avLst/>
          </a:prstGeom>
          <a:solidFill>
            <a:srgbClr val="2D7D6F"/>
          </a:solidFill>
          <a:ln w="12700">
            <a:solidFill>
              <a:srgbClr val="2D7D6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993392" y="859536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Mois 2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993392" y="1133856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</a:rPr>
              <a:t>Module CV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130552" y="1572768"/>
            <a:ext cx="164592" cy="164592"/>
          </a:xfrm>
          <a:prstGeom prst="ellipse">
            <a:avLst/>
          </a:prstGeom>
          <a:solidFill>
            <a:srgbClr val="2D7D6F">
              <a:alpha val="40000"/>
            </a:srgbClr>
          </a:solidFill>
          <a:ln w="12700">
            <a:solidFill>
              <a:srgbClr val="2D7D6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359152" y="1545336"/>
            <a:ext cx="11155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4A4A"/>
                </a:solidFill>
              </a:rPr>
              <a:t>Face Mesh (478 pts)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2130552" y="2212848"/>
            <a:ext cx="164592" cy="164592"/>
          </a:xfrm>
          <a:prstGeom prst="ellipse">
            <a:avLst/>
          </a:prstGeom>
          <a:solidFill>
            <a:srgbClr val="2D7D6F">
              <a:alpha val="40000"/>
            </a:srgbClr>
          </a:solidFill>
          <a:ln w="12700">
            <a:solidFill>
              <a:srgbClr val="2D7D6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59152" y="2185416"/>
            <a:ext cx="11155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4A4A"/>
                </a:solidFill>
              </a:rPr>
              <a:t>Segmentation zones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130552" y="2852928"/>
            <a:ext cx="164592" cy="164592"/>
          </a:xfrm>
          <a:prstGeom prst="ellipse">
            <a:avLst/>
          </a:prstGeom>
          <a:solidFill>
            <a:srgbClr val="2D7D6F">
              <a:alpha val="40000"/>
            </a:srgbClr>
          </a:solidFill>
          <a:ln w="12700">
            <a:solidFill>
              <a:srgbClr val="2D7D6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359152" y="2825496"/>
            <a:ext cx="11155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4A4A"/>
                </a:solidFill>
              </a:rPr>
              <a:t>Essai gloss temps réel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130552" y="3493008"/>
            <a:ext cx="164592" cy="164592"/>
          </a:xfrm>
          <a:prstGeom prst="ellipse">
            <a:avLst/>
          </a:prstGeom>
          <a:solidFill>
            <a:srgbClr val="2D7D6F">
              <a:alpha val="40000"/>
            </a:srgbClr>
          </a:solidFill>
          <a:ln w="12700">
            <a:solidFill>
              <a:srgbClr val="2D7D6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59152" y="3465576"/>
            <a:ext cx="11155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4A4A"/>
                </a:solidFill>
              </a:rPr>
              <a:t>Colorimétrie LAB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130552" y="4343400"/>
            <a:ext cx="1280160" cy="109728"/>
          </a:xfrm>
          <a:prstGeom prst="rect">
            <a:avLst/>
          </a:prstGeom>
          <a:solidFill>
            <a:srgbClr val="E8E0E3"/>
          </a:solidFill>
          <a:ln w="12700">
            <a:solidFill>
              <a:srgbClr val="E8E0E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93392" y="4480560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7B82"/>
                </a:solidFill>
              </a:rPr>
              <a:t>0%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712464" y="822960"/>
            <a:ext cx="1554480" cy="4023360"/>
          </a:xfrm>
          <a:prstGeom prst="rect">
            <a:avLst/>
          </a:prstGeom>
          <a:solidFill>
            <a:srgbClr val="FDFAFB"/>
          </a:solidFill>
          <a:ln w="6350">
            <a:solidFill>
              <a:srgbClr val="2B5BA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712464" y="822960"/>
            <a:ext cx="1554480" cy="594360"/>
          </a:xfrm>
          <a:prstGeom prst="rect">
            <a:avLst/>
          </a:prstGeom>
          <a:solidFill>
            <a:srgbClr val="2B5BA8"/>
          </a:solidFill>
          <a:ln w="12700">
            <a:solidFill>
              <a:srgbClr val="2B5BA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712464" y="859536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Mois 3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712464" y="1133856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</a:rPr>
              <a:t>Module ML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849624" y="1572768"/>
            <a:ext cx="164592" cy="164592"/>
          </a:xfrm>
          <a:prstGeom prst="ellipse">
            <a:avLst/>
          </a:prstGeom>
          <a:solidFill>
            <a:srgbClr val="2B5BA8">
              <a:alpha val="40000"/>
            </a:srgbClr>
          </a:solidFill>
          <a:ln w="12700">
            <a:solidFill>
              <a:srgbClr val="2B5BA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078224" y="1545336"/>
            <a:ext cx="11155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4A4A"/>
                </a:solidFill>
              </a:rPr>
              <a:t>Fitzpatrick classifier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3849624" y="2212848"/>
            <a:ext cx="164592" cy="164592"/>
          </a:xfrm>
          <a:prstGeom prst="ellipse">
            <a:avLst/>
          </a:prstGeom>
          <a:solidFill>
            <a:srgbClr val="2B5BA8">
              <a:alpha val="40000"/>
            </a:srgbClr>
          </a:solidFill>
          <a:ln w="12700">
            <a:solidFill>
              <a:srgbClr val="2B5BA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078224" y="2185416"/>
            <a:ext cx="11155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4A4A"/>
                </a:solidFill>
              </a:rPr>
              <a:t>Filtrage collaboratif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3849624" y="2852928"/>
            <a:ext cx="164592" cy="164592"/>
          </a:xfrm>
          <a:prstGeom prst="ellipse">
            <a:avLst/>
          </a:prstGeom>
          <a:solidFill>
            <a:srgbClr val="2B5BA8">
              <a:alpha val="40000"/>
            </a:srgbClr>
          </a:solidFill>
          <a:ln w="12700">
            <a:solidFill>
              <a:srgbClr val="2B5BA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078224" y="2825496"/>
            <a:ext cx="11155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4A4A"/>
                </a:solidFill>
              </a:rPr>
              <a:t>Système hybride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3849624" y="3493008"/>
            <a:ext cx="164592" cy="164592"/>
          </a:xfrm>
          <a:prstGeom prst="ellipse">
            <a:avLst/>
          </a:prstGeom>
          <a:solidFill>
            <a:srgbClr val="2B5BA8">
              <a:alpha val="40000"/>
            </a:srgbClr>
          </a:solidFill>
          <a:ln w="12700">
            <a:solidFill>
              <a:srgbClr val="2B5BA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078224" y="3465576"/>
            <a:ext cx="11155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4A4A"/>
                </a:solidFill>
              </a:rPr>
              <a:t>Métriques P@K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3849624" y="4343400"/>
            <a:ext cx="1280160" cy="109728"/>
          </a:xfrm>
          <a:prstGeom prst="rect">
            <a:avLst/>
          </a:prstGeom>
          <a:solidFill>
            <a:srgbClr val="E8E0E3"/>
          </a:solidFill>
          <a:ln w="12700">
            <a:solidFill>
              <a:srgbClr val="E8E0E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712464" y="4480560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7B82"/>
                </a:solidFill>
              </a:rPr>
              <a:t>0%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431536" y="822960"/>
            <a:ext cx="1554480" cy="4023360"/>
          </a:xfrm>
          <a:prstGeom prst="rect">
            <a:avLst/>
          </a:prstGeom>
          <a:solidFill>
            <a:srgbClr val="FDFAFB"/>
          </a:solidFill>
          <a:ln w="6350">
            <a:solidFill>
              <a:srgbClr val="B85C3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5431536" y="822960"/>
            <a:ext cx="1554480" cy="594360"/>
          </a:xfrm>
          <a:prstGeom prst="rect">
            <a:avLst/>
          </a:prstGeom>
          <a:solidFill>
            <a:srgbClr val="B85C38"/>
          </a:solidFill>
          <a:ln w="12700">
            <a:solidFill>
              <a:srgbClr val="B85C3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431536" y="859536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Mois 4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5431536" y="1133856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</a:rPr>
              <a:t>Intégration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568696" y="1572768"/>
            <a:ext cx="164592" cy="164592"/>
          </a:xfrm>
          <a:prstGeom prst="ellipse">
            <a:avLst/>
          </a:prstGeom>
          <a:solidFill>
            <a:srgbClr val="B85C38">
              <a:alpha val="40000"/>
            </a:srgbClr>
          </a:solidFill>
          <a:ln w="12700">
            <a:solidFill>
              <a:srgbClr val="B85C3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797296" y="1545336"/>
            <a:ext cx="11155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4A4A"/>
                </a:solidFill>
              </a:rPr>
              <a:t>Full-Stack connecté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5568696" y="2212848"/>
            <a:ext cx="164592" cy="164592"/>
          </a:xfrm>
          <a:prstGeom prst="ellipse">
            <a:avLst/>
          </a:prstGeom>
          <a:solidFill>
            <a:srgbClr val="B85C38">
              <a:alpha val="40000"/>
            </a:srgbClr>
          </a:solidFill>
          <a:ln w="12700">
            <a:solidFill>
              <a:srgbClr val="B85C3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97296" y="2185416"/>
            <a:ext cx="11155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4A4A"/>
                </a:solidFill>
              </a:rPr>
              <a:t>Dashboard B2C + B2B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5568696" y="2852928"/>
            <a:ext cx="164592" cy="164592"/>
          </a:xfrm>
          <a:prstGeom prst="ellipse">
            <a:avLst/>
          </a:prstGeom>
          <a:solidFill>
            <a:srgbClr val="B85C38">
              <a:alpha val="40000"/>
            </a:srgbClr>
          </a:solidFill>
          <a:ln w="12700">
            <a:solidFill>
              <a:srgbClr val="B85C38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797296" y="2825496"/>
            <a:ext cx="11155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4A4A"/>
                </a:solidFill>
              </a:rPr>
              <a:t>Tests utilisateurs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5568696" y="3493008"/>
            <a:ext cx="164592" cy="164592"/>
          </a:xfrm>
          <a:prstGeom prst="ellipse">
            <a:avLst/>
          </a:prstGeom>
          <a:solidFill>
            <a:srgbClr val="B85C38">
              <a:alpha val="40000"/>
            </a:srgbClr>
          </a:solidFill>
          <a:ln w="12700">
            <a:solidFill>
              <a:srgbClr val="B85C3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797296" y="3465576"/>
            <a:ext cx="11155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4A4A"/>
                </a:solidFill>
              </a:rPr>
              <a:t>Docker déploiement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5568696" y="4343400"/>
            <a:ext cx="1280160" cy="109728"/>
          </a:xfrm>
          <a:prstGeom prst="rect">
            <a:avLst/>
          </a:prstGeom>
          <a:solidFill>
            <a:srgbClr val="E8E0E3"/>
          </a:solidFill>
          <a:ln w="12700">
            <a:solidFill>
              <a:srgbClr val="E8E0E3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431536" y="4480560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7B82"/>
                </a:solidFill>
              </a:rPr>
              <a:t>0%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150608" y="822960"/>
            <a:ext cx="1554480" cy="4023360"/>
          </a:xfrm>
          <a:prstGeom prst="rect">
            <a:avLst/>
          </a:prstGeom>
          <a:solidFill>
            <a:srgbClr val="FDFAFB"/>
          </a:solidFill>
          <a:ln w="6350">
            <a:solidFill>
              <a:srgbClr val="99001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7150608" y="822960"/>
            <a:ext cx="1554480" cy="59436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150608" y="859536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Mois 5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7150608" y="1133856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</a:rPr>
              <a:t>Soutenance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287768" y="1572768"/>
            <a:ext cx="164592" cy="164592"/>
          </a:xfrm>
          <a:prstGeom prst="ellipse">
            <a:avLst/>
          </a:prstGeom>
          <a:solidFill>
            <a:srgbClr val="990011">
              <a:alpha val="40000"/>
            </a:srgbClr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516368" y="1545336"/>
            <a:ext cx="11155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4A4A"/>
                </a:solidFill>
              </a:rPr>
              <a:t>Rapport 80-120p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7287768" y="2212848"/>
            <a:ext cx="164592" cy="164592"/>
          </a:xfrm>
          <a:prstGeom prst="ellipse">
            <a:avLst/>
          </a:prstGeom>
          <a:solidFill>
            <a:srgbClr val="990011">
              <a:alpha val="40000"/>
            </a:srgbClr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516368" y="2185416"/>
            <a:ext cx="11155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4A4A"/>
                </a:solidFill>
              </a:rPr>
              <a:t>Slides 20 max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7287768" y="2852928"/>
            <a:ext cx="164592" cy="164592"/>
          </a:xfrm>
          <a:prstGeom prst="ellipse">
            <a:avLst/>
          </a:prstGeom>
          <a:solidFill>
            <a:srgbClr val="990011">
              <a:alpha val="40000"/>
            </a:srgbClr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7516368" y="2825496"/>
            <a:ext cx="11155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4A4A"/>
                </a:solidFill>
              </a:rPr>
              <a:t>Démo en direct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7287768" y="3493008"/>
            <a:ext cx="164592" cy="164592"/>
          </a:xfrm>
          <a:prstGeom prst="ellipse">
            <a:avLst/>
          </a:prstGeom>
          <a:solidFill>
            <a:srgbClr val="990011">
              <a:alpha val="40000"/>
            </a:srgbClr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7516368" y="3465576"/>
            <a:ext cx="11155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4A4A"/>
                </a:solidFill>
              </a:rPr>
              <a:t>Perspectives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7287768" y="4343400"/>
            <a:ext cx="1280160" cy="109728"/>
          </a:xfrm>
          <a:prstGeom prst="rect">
            <a:avLst/>
          </a:prstGeom>
          <a:solidFill>
            <a:srgbClr val="E8E0E3"/>
          </a:solidFill>
          <a:ln w="12700">
            <a:solidFill>
              <a:srgbClr val="E8E0E3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7150608" y="4480560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7B82"/>
                </a:solidFill>
              </a:rPr>
              <a:t>0%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EE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D7D6F"/>
          </a:solidFill>
          <a:ln w="12700">
            <a:solidFill>
              <a:srgbClr val="2D7D6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06 — Cahier des Charges &amp; Livrables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D7D6F"/>
                </a:solidFill>
              </a:rPr>
              <a:t>KPIs de succès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3931920" cy="457200"/>
          </a:xfrm>
          <a:prstGeom prst="rect">
            <a:avLst/>
          </a:prstGeom>
          <a:solidFill>
            <a:srgbClr val="F0FAF8"/>
          </a:solidFill>
          <a:ln w="6350">
            <a:solidFill>
              <a:srgbClr val="2D7D6F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1152144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</a:rPr>
              <a:t>Latence essai virtuel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651760" y="1188720"/>
            <a:ext cx="1508760" cy="256032"/>
          </a:xfrm>
          <a:prstGeom prst="roundRect">
            <a:avLst>
              <a:gd name="adj" fmla="val 50000"/>
            </a:avLst>
          </a:prstGeom>
          <a:solidFill>
            <a:srgbClr val="2D7D6F">
              <a:alpha val="15000"/>
            </a:srgbClr>
          </a:solidFill>
          <a:ln w="12700">
            <a:solidFill>
              <a:srgbClr val="2D7D6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51760" y="11887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D7D6F"/>
                </a:solidFill>
              </a:rPr>
              <a:t>&lt; 100ms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65760" y="1645920"/>
            <a:ext cx="3931920" cy="457200"/>
          </a:xfrm>
          <a:prstGeom prst="rect">
            <a:avLst/>
          </a:prstGeom>
          <a:solidFill>
            <a:srgbClr val="FDFAFB"/>
          </a:solidFill>
          <a:ln w="6350">
            <a:solidFill>
              <a:srgbClr val="2D7D6F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1700784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</a:rPr>
              <a:t>Fréquence d'image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651760" y="1737360"/>
            <a:ext cx="1508760" cy="256032"/>
          </a:xfrm>
          <a:prstGeom prst="roundRect">
            <a:avLst>
              <a:gd name="adj" fmla="val 50000"/>
            </a:avLst>
          </a:prstGeom>
          <a:solidFill>
            <a:srgbClr val="2D7D6F">
              <a:alpha val="15000"/>
            </a:srgbClr>
          </a:solidFill>
          <a:ln w="12700">
            <a:solidFill>
              <a:srgbClr val="2D7D6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51760" y="173736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D7D6F"/>
                </a:solidFill>
              </a:rPr>
              <a:t>≥ 25 FPS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65760" y="2194560"/>
            <a:ext cx="3931920" cy="457200"/>
          </a:xfrm>
          <a:prstGeom prst="rect">
            <a:avLst/>
          </a:prstGeom>
          <a:solidFill>
            <a:srgbClr val="F0FAF8"/>
          </a:solidFill>
          <a:ln w="6350">
            <a:solidFill>
              <a:srgbClr val="2D7D6F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48640" y="2249424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</a:rPr>
              <a:t>Precision@10 recommandation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651760" y="2286000"/>
            <a:ext cx="1508760" cy="256032"/>
          </a:xfrm>
          <a:prstGeom prst="roundRect">
            <a:avLst>
              <a:gd name="adj" fmla="val 50000"/>
            </a:avLst>
          </a:prstGeom>
          <a:solidFill>
            <a:srgbClr val="2D7D6F">
              <a:alpha val="15000"/>
            </a:srgbClr>
          </a:solidFill>
          <a:ln w="12700">
            <a:solidFill>
              <a:srgbClr val="2D7D6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51760" y="228600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D7D6F"/>
                </a:solidFill>
              </a:rPr>
              <a:t>≥ 70%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65760" y="2743200"/>
            <a:ext cx="3931920" cy="457200"/>
          </a:xfrm>
          <a:prstGeom prst="rect">
            <a:avLst/>
          </a:prstGeom>
          <a:solidFill>
            <a:srgbClr val="FDFAFB"/>
          </a:solidFill>
          <a:ln w="6350">
            <a:solidFill>
              <a:srgbClr val="2D7D6F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48640" y="2798064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</a:rPr>
              <a:t>Compatibilité navigateurs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651760" y="2834640"/>
            <a:ext cx="1508760" cy="256032"/>
          </a:xfrm>
          <a:prstGeom prst="roundRect">
            <a:avLst>
              <a:gd name="adj" fmla="val 50000"/>
            </a:avLst>
          </a:prstGeom>
          <a:solidFill>
            <a:srgbClr val="2D7D6F">
              <a:alpha val="15000"/>
            </a:srgbClr>
          </a:solidFill>
          <a:ln w="12700">
            <a:solidFill>
              <a:srgbClr val="2D7D6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651760" y="283464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D7D6F"/>
                </a:solidFill>
              </a:rPr>
              <a:t>Chrome · Firefox · Safari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65760" y="3291840"/>
            <a:ext cx="3931920" cy="457200"/>
          </a:xfrm>
          <a:prstGeom prst="rect">
            <a:avLst/>
          </a:prstGeom>
          <a:solidFill>
            <a:srgbClr val="F0FAF8"/>
          </a:solidFill>
          <a:ln w="6350">
            <a:solidFill>
              <a:srgbClr val="2D7D6F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548640" y="3346704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</a:rPr>
              <a:t>Sécurité données biométriques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651760" y="3383280"/>
            <a:ext cx="1508760" cy="256032"/>
          </a:xfrm>
          <a:prstGeom prst="roundRect">
            <a:avLst>
              <a:gd name="adj" fmla="val 50000"/>
            </a:avLst>
          </a:prstGeom>
          <a:solidFill>
            <a:srgbClr val="2D7D6F">
              <a:alpha val="15000"/>
            </a:srgbClr>
          </a:solidFill>
          <a:ln w="12700">
            <a:solidFill>
              <a:srgbClr val="2D7D6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651760" y="338328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D7D6F"/>
                </a:solidFill>
              </a:rPr>
              <a:t>RGPD — traitement local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663440" y="777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D2E46"/>
                </a:solidFill>
              </a:rPr>
              <a:t>Livrables attendus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663440" y="1097280"/>
            <a:ext cx="4114800" cy="457200"/>
          </a:xfrm>
          <a:prstGeom prst="rect">
            <a:avLst/>
          </a:prstGeom>
          <a:solidFill>
            <a:srgbClr val="FDFAFB"/>
          </a:solidFill>
          <a:ln w="6350">
            <a:solidFill>
              <a:srgbClr val="6D2E46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754880" y="1188720"/>
            <a:ext cx="274320" cy="274320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54880" y="1188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01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120640" y="1133856"/>
            <a:ext cx="3520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0A14"/>
                </a:solidFill>
              </a:rPr>
              <a:t>Rapport complet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120640" y="1344168"/>
            <a:ext cx="3520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7B82"/>
                </a:solidFill>
              </a:rPr>
              <a:t>80-120 pages - Mois 5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663440" y="1645920"/>
            <a:ext cx="4114800" cy="457200"/>
          </a:xfrm>
          <a:prstGeom prst="rect">
            <a:avLst/>
          </a:prstGeom>
          <a:solidFill>
            <a:srgbClr val="FDFAFB"/>
          </a:solidFill>
          <a:ln w="6350">
            <a:solidFill>
              <a:srgbClr val="2D7D6F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754880" y="1737360"/>
            <a:ext cx="274320" cy="274320"/>
          </a:xfrm>
          <a:prstGeom prst="ellipse">
            <a:avLst/>
          </a:prstGeom>
          <a:solidFill>
            <a:srgbClr val="2D7D6F"/>
          </a:solidFill>
          <a:ln w="12700">
            <a:solidFill>
              <a:srgbClr val="2D7D6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54880" y="1737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02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120640" y="1682496"/>
            <a:ext cx="3520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0A14"/>
                </a:solidFill>
              </a:rPr>
              <a:t>Application demo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120640" y="1892808"/>
            <a:ext cx="3520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7B82"/>
                </a:solidFill>
              </a:rPr>
              <a:t>Web fonctionnelle - Mois 4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663440" y="2194560"/>
            <a:ext cx="4114800" cy="457200"/>
          </a:xfrm>
          <a:prstGeom prst="rect">
            <a:avLst/>
          </a:prstGeom>
          <a:solidFill>
            <a:srgbClr val="FDFAFB"/>
          </a:solidFill>
          <a:ln w="6350">
            <a:solidFill>
              <a:srgbClr val="2B5BA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4754880" y="2286000"/>
            <a:ext cx="274320" cy="274320"/>
          </a:xfrm>
          <a:prstGeom prst="ellipse">
            <a:avLst/>
          </a:prstGeom>
          <a:solidFill>
            <a:srgbClr val="2B5BA8"/>
          </a:solidFill>
          <a:ln w="12700">
            <a:solidFill>
              <a:srgbClr val="2B5BA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54880" y="2286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03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5120640" y="2231136"/>
            <a:ext cx="3520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0A14"/>
                </a:solidFill>
              </a:rPr>
              <a:t>Presentation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5120640" y="2441448"/>
            <a:ext cx="3520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7B82"/>
                </a:solidFill>
              </a:rPr>
              <a:t>20 slides max - Soutenance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663440" y="2743200"/>
            <a:ext cx="4114800" cy="457200"/>
          </a:xfrm>
          <a:prstGeom prst="rect">
            <a:avLst/>
          </a:prstGeom>
          <a:solidFill>
            <a:srgbClr val="FDFAFB"/>
          </a:solidFill>
          <a:ln w="6350">
            <a:solidFill>
              <a:srgbClr val="B85C3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4754880" y="2834640"/>
            <a:ext cx="274320" cy="274320"/>
          </a:xfrm>
          <a:prstGeom prst="ellipse">
            <a:avLst/>
          </a:prstGeom>
          <a:solidFill>
            <a:srgbClr val="B85C38"/>
          </a:solidFill>
          <a:ln w="12700">
            <a:solidFill>
              <a:srgbClr val="B85C3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754880" y="2834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04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120640" y="2779776"/>
            <a:ext cx="3520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0A14"/>
                </a:solidFill>
              </a:rPr>
              <a:t>Code source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5120640" y="2990088"/>
            <a:ext cx="3520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7B82"/>
                </a:solidFill>
              </a:rPr>
              <a:t>GitHub documente - En continu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663440" y="3291840"/>
            <a:ext cx="4114800" cy="457200"/>
          </a:xfrm>
          <a:prstGeom prst="rect">
            <a:avLst/>
          </a:prstGeom>
          <a:solidFill>
            <a:srgbClr val="FDFAFB"/>
          </a:solidFill>
          <a:ln w="6350">
            <a:solidFill>
              <a:srgbClr val="6D2E46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4754880" y="3383280"/>
            <a:ext cx="274320" cy="274320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754880" y="3383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05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120640" y="3328416"/>
            <a:ext cx="3520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0A14"/>
                </a:solidFill>
              </a:rPr>
              <a:t>API Documentation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5120640" y="3538728"/>
            <a:ext cx="3520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7B82"/>
                </a:solidFill>
              </a:rPr>
              <a:t>Swagger / OpenAPI - Mois 4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EE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B5BA8"/>
          </a:solidFill>
          <a:ln w="12700">
            <a:solidFill>
              <a:srgbClr val="2B5B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Stack Technique &amp; Documentation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114800" cy="1719072"/>
          </a:xfrm>
          <a:prstGeom prst="rect">
            <a:avLst/>
          </a:prstGeom>
          <a:solidFill>
            <a:srgbClr val="FDFAFB"/>
          </a:solidFill>
          <a:ln w="6350">
            <a:solidFill>
              <a:srgbClr val="2D7D6F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804672"/>
            <a:ext cx="4114800" cy="347472"/>
          </a:xfrm>
          <a:prstGeom prst="rect">
            <a:avLst/>
          </a:prstGeom>
          <a:solidFill>
            <a:srgbClr val="2D7D6F"/>
          </a:solidFill>
          <a:ln w="12700">
            <a:solidFill>
              <a:srgbClr val="2D7D6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38912" y="804672"/>
            <a:ext cx="3886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Vision par Ordinateur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8912" y="1325880"/>
            <a:ext cx="128016" cy="128016"/>
          </a:xfrm>
          <a:prstGeom prst="ellipse">
            <a:avLst/>
          </a:prstGeom>
          <a:solidFill>
            <a:srgbClr val="2D7D6F"/>
          </a:solidFill>
          <a:ln w="12700">
            <a:solidFill>
              <a:srgbClr val="2D7D6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1792" y="1261872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</a:rPr>
              <a:t>MediaPipe FaceMesh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8912" y="1874520"/>
            <a:ext cx="128016" cy="128016"/>
          </a:xfrm>
          <a:prstGeom prst="ellipse">
            <a:avLst/>
          </a:prstGeom>
          <a:solidFill>
            <a:srgbClr val="2D7D6F"/>
          </a:solidFill>
          <a:ln w="12700">
            <a:solidFill>
              <a:srgbClr val="2D7D6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1810512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</a:rPr>
              <a:t>OpenCV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450592" y="1325880"/>
            <a:ext cx="128016" cy="128016"/>
          </a:xfrm>
          <a:prstGeom prst="ellipse">
            <a:avLst/>
          </a:prstGeom>
          <a:solidFill>
            <a:srgbClr val="2D7D6F"/>
          </a:solidFill>
          <a:ln w="12700">
            <a:solidFill>
              <a:srgbClr val="2D7D6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33472" y="1261872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</a:rPr>
              <a:t>TensorFlow.js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450592" y="1874520"/>
            <a:ext cx="128016" cy="128016"/>
          </a:xfrm>
          <a:prstGeom prst="ellipse">
            <a:avLst/>
          </a:prstGeom>
          <a:solidFill>
            <a:srgbClr val="2D7D6F"/>
          </a:solidFill>
          <a:ln w="12700">
            <a:solidFill>
              <a:srgbClr val="2D7D6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33472" y="1810512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</a:rPr>
              <a:t>Segment Anything (SAM)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736592" y="804672"/>
            <a:ext cx="4114800" cy="1719072"/>
          </a:xfrm>
          <a:prstGeom prst="rect">
            <a:avLst/>
          </a:prstGeom>
          <a:solidFill>
            <a:srgbClr val="FDFAFB"/>
          </a:solidFill>
          <a:ln w="6350">
            <a:solidFill>
              <a:srgbClr val="2B5BA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736592" y="804672"/>
            <a:ext cx="4114800" cy="347472"/>
          </a:xfrm>
          <a:prstGeom prst="rect">
            <a:avLst/>
          </a:prstGeom>
          <a:solidFill>
            <a:srgbClr val="2B5BA8"/>
          </a:solidFill>
          <a:ln w="12700">
            <a:solidFill>
              <a:srgbClr val="2B5BA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01184" y="804672"/>
            <a:ext cx="3886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Machine Learning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901184" y="1325880"/>
            <a:ext cx="128016" cy="128016"/>
          </a:xfrm>
          <a:prstGeom prst="ellipse">
            <a:avLst/>
          </a:prstGeom>
          <a:solidFill>
            <a:srgbClr val="2B5BA8"/>
          </a:solidFill>
          <a:ln w="12700">
            <a:solidFill>
              <a:srgbClr val="2B5BA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84064" y="1261872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</a:rPr>
              <a:t>Scikit-learn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901184" y="1874520"/>
            <a:ext cx="128016" cy="128016"/>
          </a:xfrm>
          <a:prstGeom prst="ellipse">
            <a:avLst/>
          </a:prstGeom>
          <a:solidFill>
            <a:srgbClr val="2B5BA8"/>
          </a:solidFill>
          <a:ln w="12700">
            <a:solidFill>
              <a:srgbClr val="2B5BA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84064" y="1810512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</a:rPr>
              <a:t>TensorFlow / Keras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912864" y="1325880"/>
            <a:ext cx="128016" cy="128016"/>
          </a:xfrm>
          <a:prstGeom prst="ellipse">
            <a:avLst/>
          </a:prstGeom>
          <a:solidFill>
            <a:srgbClr val="2B5BA8"/>
          </a:solidFill>
          <a:ln w="12700">
            <a:solidFill>
              <a:srgbClr val="2B5BA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95744" y="1261872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</a:rPr>
              <a:t>Surprise / LightFM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912864" y="1874520"/>
            <a:ext cx="128016" cy="128016"/>
          </a:xfrm>
          <a:prstGeom prst="ellipse">
            <a:avLst/>
          </a:prstGeom>
          <a:solidFill>
            <a:srgbClr val="2B5BA8"/>
          </a:solidFill>
          <a:ln w="12700">
            <a:solidFill>
              <a:srgbClr val="2B5BA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095744" y="1810512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</a:rPr>
              <a:t>FAISS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74320" y="2724912"/>
            <a:ext cx="4114800" cy="1719072"/>
          </a:xfrm>
          <a:prstGeom prst="rect">
            <a:avLst/>
          </a:prstGeom>
          <a:solidFill>
            <a:srgbClr val="FDFAFB"/>
          </a:solidFill>
          <a:ln w="6350">
            <a:solidFill>
              <a:srgbClr val="6D2E46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274320" y="2724912"/>
            <a:ext cx="4114800" cy="347472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8912" y="2724912"/>
            <a:ext cx="3886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Backend &amp; API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38912" y="3246120"/>
            <a:ext cx="128016" cy="128016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21792" y="3182112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</a:rPr>
              <a:t>FastAPI (Python)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38912" y="3794760"/>
            <a:ext cx="128016" cy="128016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21792" y="3730752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</a:rPr>
              <a:t>PostgreSQL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450592" y="3246120"/>
            <a:ext cx="128016" cy="128016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33472" y="3182112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</a:rPr>
              <a:t>Redis (cache)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2450592" y="3794760"/>
            <a:ext cx="128016" cy="128016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33472" y="3730752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</a:rPr>
              <a:t>Docker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736592" y="2724912"/>
            <a:ext cx="4114800" cy="1719072"/>
          </a:xfrm>
          <a:prstGeom prst="rect">
            <a:avLst/>
          </a:prstGeom>
          <a:solidFill>
            <a:srgbClr val="FDFAFB"/>
          </a:solidFill>
          <a:ln w="6350">
            <a:solidFill>
              <a:srgbClr val="B85C3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736592" y="2724912"/>
            <a:ext cx="4114800" cy="347472"/>
          </a:xfrm>
          <a:prstGeom prst="rect">
            <a:avLst/>
          </a:prstGeom>
          <a:solidFill>
            <a:srgbClr val="B85C38"/>
          </a:solidFill>
          <a:ln w="12700">
            <a:solidFill>
              <a:srgbClr val="B85C3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901184" y="2724912"/>
            <a:ext cx="3886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Frontend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901184" y="3246120"/>
            <a:ext cx="128016" cy="128016"/>
          </a:xfrm>
          <a:prstGeom prst="ellipse">
            <a:avLst/>
          </a:prstGeom>
          <a:solidFill>
            <a:srgbClr val="B85C38"/>
          </a:solidFill>
          <a:ln w="12700">
            <a:solidFill>
              <a:srgbClr val="B85C3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084064" y="3182112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</a:rPr>
              <a:t>React + Three.js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4901184" y="3794760"/>
            <a:ext cx="128016" cy="128016"/>
          </a:xfrm>
          <a:prstGeom prst="ellipse">
            <a:avLst/>
          </a:prstGeom>
          <a:solidFill>
            <a:srgbClr val="B85C38"/>
          </a:solidFill>
          <a:ln w="12700">
            <a:solidFill>
              <a:srgbClr val="B85C3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084064" y="3730752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</a:rPr>
              <a:t>TensorFlow.js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6912864" y="3246120"/>
            <a:ext cx="128016" cy="128016"/>
          </a:xfrm>
          <a:prstGeom prst="ellipse">
            <a:avLst/>
          </a:prstGeom>
          <a:solidFill>
            <a:srgbClr val="B85C38"/>
          </a:solidFill>
          <a:ln w="12700">
            <a:solidFill>
              <a:srgbClr val="B85C3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095744" y="3182112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</a:rPr>
              <a:t>WebRTC (caméra)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912864" y="3794760"/>
            <a:ext cx="128016" cy="128016"/>
          </a:xfrm>
          <a:prstGeom prst="ellipse">
            <a:avLst/>
          </a:prstGeom>
          <a:solidFill>
            <a:srgbClr val="B85C38"/>
          </a:solidFill>
          <a:ln w="12700">
            <a:solidFill>
              <a:srgbClr val="B85C3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095744" y="3730752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4A4A"/>
                </a:solidFill>
              </a:rPr>
              <a:t>REST API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274320" y="4645152"/>
            <a:ext cx="8595360" cy="384048"/>
          </a:xfrm>
          <a:prstGeom prst="rect">
            <a:avLst/>
          </a:prstGeom>
          <a:solidFill>
            <a:srgbClr val="EEF3FB"/>
          </a:solidFill>
          <a:ln w="6350">
            <a:solidFill>
              <a:srgbClr val="2B5BA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57200" y="466344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B5BA8"/>
                </a:solidFill>
              </a:rPr>
              <a:t>Sources clés : </a:t>
            </a:r>
            <a:r>
              <a:rPr lang="en-US" sz="1000" dirty="0">
                <a:solidFill>
                  <a:srgbClr val="4A4A4A"/>
                </a:solidFill>
              </a:rPr>
              <a:t>BeautyGAN (ACM 2018)  ·  PSGAN (CVPR 2020)  ·  MediaPipe FaceMesh (Google)  ·  LightGCN (SIGIR 2020)  ·  Fitzpatrick Scale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457200"/>
            <a:ext cx="3657600" cy="3657600"/>
          </a:xfrm>
          <a:prstGeom prst="ellipse">
            <a:avLst/>
          </a:prstGeom>
          <a:solidFill>
            <a:srgbClr val="6D2E46">
              <a:alpha val="20000"/>
            </a:srgbClr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731520" y="3200400"/>
            <a:ext cx="2286000" cy="2286000"/>
          </a:xfrm>
          <a:prstGeom prst="ellipse">
            <a:avLst/>
          </a:prstGeom>
          <a:solidFill>
            <a:srgbClr val="C8956B">
              <a:alpha val="18000"/>
            </a:srgbClr>
          </a:solidFill>
          <a:ln w="12700">
            <a:solidFill>
              <a:srgbClr val="C8956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548640"/>
            <a:ext cx="64008" cy="1645920"/>
          </a:xfrm>
          <a:prstGeom prst="rect">
            <a:avLst/>
          </a:prstGeom>
          <a:solidFill>
            <a:srgbClr val="C8956B"/>
          </a:solidFill>
          <a:ln w="12700">
            <a:solidFill>
              <a:srgbClr val="C895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5029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956B"/>
                </a:solidFill>
              </a:rPr>
              <a:t>Ce que nous avons accompli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868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Semaines 1–2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685800" y="138988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B8A0AA"/>
                </a:solidFill>
              </a:rPr>
              <a:t>Fondations complètes du projet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4114800" cy="548640"/>
          </a:xfrm>
          <a:prstGeom prst="rect">
            <a:avLst/>
          </a:prstGeom>
          <a:solidFill>
            <a:srgbClr val="FFFFFF">
              <a:alpha val="6000"/>
            </a:srgbClr>
          </a:solidFill>
          <a:ln w="6350">
            <a:solidFill>
              <a:srgbClr val="2D7D6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2011680"/>
            <a:ext cx="3840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✅  Cahier des charges structuré et complet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846320" y="2011680"/>
            <a:ext cx="4114800" cy="548640"/>
          </a:xfrm>
          <a:prstGeom prst="rect">
            <a:avLst/>
          </a:prstGeom>
          <a:solidFill>
            <a:srgbClr val="FFFFFF">
              <a:alpha val="6000"/>
            </a:srgbClr>
          </a:solidFill>
          <a:ln w="6350">
            <a:solidFill>
              <a:srgbClr val="2B5BA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83480" y="2011680"/>
            <a:ext cx="3840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✅  Architecture technique validée et diagrammée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670048"/>
            <a:ext cx="4114800" cy="548640"/>
          </a:xfrm>
          <a:prstGeom prst="rect">
            <a:avLst/>
          </a:prstGeom>
          <a:solidFill>
            <a:srgbClr val="FFFFFF">
              <a:alpha val="6000"/>
            </a:srgbClr>
          </a:solidFill>
          <a:ln w="6350">
            <a:solidFill>
              <a:srgbClr val="6D2E4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2670048"/>
            <a:ext cx="3840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✅  Démo MediaPipe fonctionnelle (gloss temps réel)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846320" y="2670048"/>
            <a:ext cx="4114800" cy="548640"/>
          </a:xfrm>
          <a:prstGeom prst="rect">
            <a:avLst/>
          </a:prstGeom>
          <a:solidFill>
            <a:srgbClr val="FFFFFF">
              <a:alpha val="6000"/>
            </a:srgbClr>
          </a:solidFill>
          <a:ln w="6350">
            <a:solidFill>
              <a:srgbClr val="C8956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83480" y="2670048"/>
            <a:ext cx="3840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✅  10 papers fondateurs identifiés et listés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328416"/>
            <a:ext cx="4114800" cy="548640"/>
          </a:xfrm>
          <a:prstGeom prst="rect">
            <a:avLst/>
          </a:prstGeom>
          <a:solidFill>
            <a:srgbClr val="FFFFFF">
              <a:alpha val="6000"/>
            </a:srgbClr>
          </a:solidFill>
          <a:ln w="6350">
            <a:solidFill>
              <a:srgbClr val="2D7D6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3328416"/>
            <a:ext cx="3840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✅  Repo GitHub structuré + environnement Docker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846320" y="3328416"/>
            <a:ext cx="4114800" cy="548640"/>
          </a:xfrm>
          <a:prstGeom prst="rect">
            <a:avLst/>
          </a:prstGeom>
          <a:solidFill>
            <a:srgbClr val="FFFFFF">
              <a:alpha val="6000"/>
            </a:srgbClr>
          </a:solidFill>
          <a:ln w="6350">
            <a:solidFill>
              <a:srgbClr val="2B5BA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83480" y="3328416"/>
            <a:ext cx="3840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✅  Datasets publics identifiés (LADN, CelebA, Fitzpatrick17k)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4041648"/>
            <a:ext cx="8229600" cy="502920"/>
          </a:xfrm>
          <a:prstGeom prst="rect">
            <a:avLst/>
          </a:prstGeom>
          <a:solidFill>
            <a:srgbClr val="C8956B">
              <a:alpha val="15000"/>
            </a:srgbClr>
          </a:solidFill>
          <a:ln w="12700">
            <a:solidFill>
              <a:srgbClr val="C8956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059936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8956B"/>
                </a:solidFill>
              </a:rPr>
              <a:t>Prochaine étape : </a:t>
            </a:r>
            <a:r>
              <a:rPr lang="en-US" sz="1100" dirty="0">
                <a:solidFill>
                  <a:srgbClr val="FFFFFF"/>
                </a:solidFill>
              </a:rPr>
              <a:t>Mois 2 — Développement du module Vision par Ordinateur complet (segmentation + essai virtuel multi-produits)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0" y="47548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A5C68"/>
                </a:solidFill>
              </a:rPr>
              <a:t>Merci pour votre attention — Questions ?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210</TotalTime>
  <Words>943</Words>
  <Application>Microsoft Office PowerPoint</Application>
  <PresentationFormat>Affichage à l'écran (16:9)</PresentationFormat>
  <Paragraphs>246</Paragraphs>
  <Slides>11</Slides>
  <Notes>11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11</vt:i4>
      </vt:variant>
    </vt:vector>
  </HeadingPairs>
  <TitlesOfParts>
    <vt:vector size="14" baseType="lpstr">
      <vt:lpstr>Arial</vt:lpstr>
      <vt:lpstr>Georgia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Plateforme Intelligente d'Essai Virtuel Cosmétique</dc:title>
  <dc:subject>PptxGenJS Presentation</dc:subject>
  <dc:creator>Étudiant PFE</dc:creator>
  <cp:lastModifiedBy>Sié Hans OUATTARA</cp:lastModifiedBy>
  <cp:revision>3</cp:revision>
  <dcterms:created xsi:type="dcterms:W3CDTF">2026-03-26T13:30:19Z</dcterms:created>
  <dcterms:modified xsi:type="dcterms:W3CDTF">2026-03-30T15:59:34Z</dcterms:modified>
</cp:coreProperties>
</file>