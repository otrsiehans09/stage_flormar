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6D2E46">
              <a:alpha val="25000"/>
            </a:srgbClr>
          </a:solidFill>
          <a:ln w="12700">
            <a:solidFill>
              <a:srgbClr val="6D2E4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C8956B">
              <a:alpha val="20000"/>
            </a:srgbClr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657600"/>
            <a:ext cx="1645920" cy="1645920"/>
          </a:xfrm>
          <a:prstGeom prst="ellipse">
            <a:avLst/>
          </a:prstGeom>
          <a:solidFill>
            <a:srgbClr val="6D2E46">
              <a:alpha val="3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4864" cy="2926080"/>
          </a:xfrm>
          <a:prstGeom prst="rect">
            <a:avLst/>
          </a:prstGeom>
          <a:solidFill>
            <a:srgbClr val="C8956B"/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05840"/>
            <a:ext cx="2144268" cy="256032"/>
          </a:xfrm>
          <a:prstGeom prst="roundRect">
            <a:avLst>
              <a:gd name="adj" fmla="val 50000"/>
            </a:avLst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05840"/>
            <a:ext cx="21442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Vision par Ordinateur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39796" y="1005840"/>
            <a:ext cx="1709928" cy="256032"/>
          </a:xfrm>
          <a:prstGeom prst="roundRect">
            <a:avLst>
              <a:gd name="adj" fmla="val 50000"/>
            </a:avLst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00584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9452" y="1005840"/>
            <a:ext cx="2057400" cy="256032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9452" y="10058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Cosmétique B2C + B2B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4630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 Intelligente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89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d'Essai Virtuel Cosmétique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A0AA"/>
                </a:solidFill>
              </a:rPr>
              <a:t>Recommandation personnalisée basée sur la Vision par Ordinateur et le Machine Learning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434840"/>
            <a:ext cx="9144000" cy="704088"/>
          </a:xfrm>
          <a:prstGeom prst="rect">
            <a:avLst/>
          </a:prstGeom>
          <a:solidFill>
            <a:srgbClr val="6D2E46">
              <a:alpha val="7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D5DC"/>
                </a:solidFill>
              </a:rPr>
              <a:t>Projet de Fin d'Études  |  </a:t>
            </a:r>
            <a:pPr algn="l" indent="0" marL="0">
              <a:buNone/>
            </a:pPr>
            <a:r>
              <a:rPr lang="en-US" sz="1100" b="1" dirty="0">
                <a:solidFill>
                  <a:srgbClr val="E8D5DC"/>
                </a:solidFill>
              </a:rPr>
              <a:t>5 mois  |  </a:t>
            </a:r>
            <a:pPr algn="l" indent="0" marL="0">
              <a:buNone/>
            </a:pPr>
            <a:r>
              <a:rPr lang="en-US" sz="1100" dirty="0">
                <a:solidFill>
                  <a:srgbClr val="E8D5DC"/>
                </a:solidFill>
              </a:rPr>
              <a:t>Encadrant académique : [Nom]  |  Encadrant entreprise : [Nom]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présentation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0584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51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Contexte &amp; Problématique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L'entreprise, le marché, les enjeux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100584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64008" cy="100584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2860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D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3444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Objectifs du projet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Ce que la plateforme va accomplir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14800" cy="100584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29000"/>
            <a:ext cx="64008" cy="100584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520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5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3444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Architecture technique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931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CV, ML, Full-Stack, données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114800" cy="1005840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60120"/>
            <a:ext cx="64008" cy="100584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051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71500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Modules détaillés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Essai virtuel &amp; Recommandation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194560"/>
            <a:ext cx="4114800" cy="100584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194560"/>
            <a:ext cx="64008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2860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71500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Planning &amp; Livrables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Roadmap 5 mois, jalons clés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429000"/>
            <a:ext cx="4114800" cy="100584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29000"/>
            <a:ext cx="64008" cy="100584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520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D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71500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Cahier des charges validé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15000" y="3931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82"/>
                </a:solidFill>
              </a:rPr>
              <a:t>Périmètre, contraintes, KPIs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— Contexte &amp; Problématique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325880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920240" cy="64008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581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des retours produits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dus à mauvaise teinte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868680"/>
            <a:ext cx="1920240" cy="132588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868680"/>
            <a:ext cx="1920240" cy="640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B2C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581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Grand public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e-commerce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868680"/>
            <a:ext cx="1920240" cy="132588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868680"/>
            <a:ext cx="1920240" cy="64008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7D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581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Professionnels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beauté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868680"/>
            <a:ext cx="1920240" cy="132588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868680"/>
            <a:ext cx="1920240" cy="6400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5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mois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03136" y="1581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Durée du projet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PFE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</a:rPr>
              <a:t>Problématique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8412480" cy="777240"/>
          </a:xfrm>
          <a:prstGeom prst="rect">
            <a:avLst/>
          </a:prstGeom>
          <a:solidFill>
            <a:srgbClr val="F9F0F4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697480"/>
            <a:ext cx="64008" cy="7772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724912"/>
            <a:ext cx="8092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0A14"/>
                </a:solidFill>
              </a:rPr>
              <a:t>Comment permettre aux clients B2C et aux professionnels B2B d'essayer virtuellement les produits cosmétiques et de recevoir des recommandations personnalisées, en exploitant la vision par ordinateur et le machine learning 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</a:rPr>
              <a:t>Produits prioritaires 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3593592"/>
            <a:ext cx="2090318" cy="256032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593592"/>
            <a:ext cx="20903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Gloss / Rouge à lèvres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14646" y="3593592"/>
            <a:ext cx="2251253" cy="256032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4646" y="3593592"/>
            <a:ext cx="22512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Fond de teint / BB Cream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75627" y="3593592"/>
            <a:ext cx="1607515" cy="256032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75627" y="3593592"/>
            <a:ext cx="1607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Fard à paupières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792870" y="3593592"/>
            <a:ext cx="2653589" cy="256032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92870" y="3593592"/>
            <a:ext cx="26535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Blush · Bronzer · Highlighter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</a:rPr>
              <a:t>Présence digitale existante : </a:t>
            </a:r>
            <a:pPr indent="0" marL="0">
              <a:buNone/>
            </a:pPr>
            <a:r>
              <a:rPr lang="en-US" sz="1200" dirty="0">
                <a:solidFill>
                  <a:srgbClr val="2D7D6F"/>
                </a:solidFill>
              </a:rPr>
              <a:t>Site e-commerce  +  Réseaux sociaux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— Objectifs du Projet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82880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828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33272"/>
            <a:ext cx="502920" cy="502920"/>
          </a:xfrm>
          <a:prstGeom prst="ellipse">
            <a:avLst/>
          </a:prstGeom>
          <a:solidFill>
            <a:srgbClr val="6D2E46">
              <a:alpha val="1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033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Essai virtuel temps réel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1344168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6D2E46">
              <a:alpha val="1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3441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E46"/>
                </a:solidFill>
              </a:rPr>
              <a:t>&lt; 100ms · ≥ 25 FPS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6916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Détecter le visage, segmenter les zones (lèvres, yeux, joues) et appliquer le maquillage en direct via la caméra.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36592" y="868680"/>
            <a:ext cx="4114800" cy="182880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868680"/>
            <a:ext cx="64008" cy="182880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01184" y="1033272"/>
            <a:ext cx="502920" cy="502920"/>
          </a:xfrm>
          <a:prstGeom prst="ellipse">
            <a:avLst/>
          </a:prstGeom>
          <a:solidFill>
            <a:srgbClr val="2B5BA8">
              <a:alpha val="15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13832" y="1033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Recommandation personnalisée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13832" y="1344168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2B5BA8">
              <a:alpha val="15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13832" y="13441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BA8"/>
                </a:solidFill>
              </a:rPr>
              <a:t>Precision@10 ≥ 70%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01184" y="16916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Analyser le profil utilisateur (teinte Fitzpatrick) et recommander les produits les plus adaptés.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114800" cy="182880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64008" cy="182880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044952"/>
            <a:ext cx="502920" cy="502920"/>
          </a:xfrm>
          <a:prstGeom prst="ellipse">
            <a:avLst/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3044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Intégration e-commerce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51560" y="3355848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3558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API REST documentée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" y="37033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S'interfacer avec le site existant de l'entreprise pour rediriger vers l'achat et gérer le catalogue.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36592" y="2880360"/>
            <a:ext cx="4114800" cy="1828800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2880360"/>
            <a:ext cx="64008" cy="182880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01184" y="3044952"/>
            <a:ext cx="502920" cy="502920"/>
          </a:xfrm>
          <a:prstGeom prst="ellipse">
            <a:avLst/>
          </a:prstGeom>
          <a:solidFill>
            <a:srgbClr val="B85C38">
              <a:alpha val="15000"/>
            </a:srgbClr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13832" y="3044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4"/>
                </a:solidFill>
              </a:rPr>
              <a:t>Dashboard B2B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13832" y="3355848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B85C38">
              <a:alpha val="15000"/>
            </a:srgbClr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33558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C38"/>
                </a:solidFill>
              </a:rPr>
              <a:t>Statistiques &amp; gestion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01184" y="37033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Offrir aux professionnels un espace d'administration pour le catalogue et l'analyse des comportements.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071B"/>
          </a:solidFill>
          <a:ln w="12700">
            <a:solidFill>
              <a:srgbClr val="1207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6B"/>
                </a:solidFill>
              </a:rPr>
              <a:t>03 — Architecture Technique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solidFill>
            <a:srgbClr val="7C3D6B">
              <a:alpha val="70000"/>
            </a:srgbClr>
          </a:solidFill>
          <a:ln w="12700">
            <a:solidFill>
              <a:srgbClr val="7C3D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— React + TensorFlow.js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612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C8"/>
                </a:solidFill>
              </a:rPr>
              <a:t>Caméra · Essai virtuel · UI Recommandation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8046720" cy="640080"/>
          </a:xfrm>
          <a:prstGeom prst="rect">
            <a:avLst/>
          </a:prstGeom>
          <a:solidFill>
            <a:srgbClr val="2A5C8F">
              <a:alpha val="70000"/>
            </a:srgbClr>
          </a:solidFill>
          <a:ln w="12700">
            <a:solidFill>
              <a:srgbClr val="2A5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— FastAPI (Python)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C8"/>
                </a:solidFill>
              </a:rPr>
              <a:t>Auth · Catalogue · Sessions · Routing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53128" y="2240280"/>
            <a:ext cx="228600" cy="320040"/>
          </a:xfrm>
          <a:prstGeom prst="rect">
            <a:avLst/>
          </a:prstGeom>
          <a:solidFill>
            <a:srgbClr val="C8956B"/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60320"/>
            <a:ext cx="2651760" cy="1691640"/>
          </a:xfrm>
          <a:prstGeom prst="rect">
            <a:avLst/>
          </a:prstGeom>
          <a:solidFill>
            <a:srgbClr val="1F6B5E">
              <a:alpha val="75000"/>
            </a:srgbClr>
          </a:solidFill>
          <a:ln w="12700">
            <a:solidFill>
              <a:srgbClr val="1F6B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60320"/>
            <a:ext cx="2651760" cy="347472"/>
          </a:xfrm>
          <a:prstGeom prst="rect">
            <a:avLst/>
          </a:prstGeom>
          <a:solidFill>
            <a:srgbClr val="1F6B5E"/>
          </a:solidFill>
          <a:ln w="12700">
            <a:solidFill>
              <a:srgbClr val="1F6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03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 CV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MediaPipe Face Mesh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2735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OpenCV colorimétrie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75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Segmentation zones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87705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Fitzpatrick Tone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2560320"/>
            <a:ext cx="2651760" cy="1691640"/>
          </a:xfrm>
          <a:prstGeom prst="rect">
            <a:avLst/>
          </a:prstGeom>
          <a:solidFill>
            <a:srgbClr val="6D2E46">
              <a:alpha val="7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560320"/>
            <a:ext cx="265176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5603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Produits ciblés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Gloss / Rouge lèvres 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2735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Fond de teint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575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Fard à paupières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87705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Blush · Bronzer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560320"/>
            <a:ext cx="2651760" cy="1691640"/>
          </a:xfrm>
          <a:prstGeom prst="rect">
            <a:avLst/>
          </a:prstGeom>
          <a:solidFill>
            <a:srgbClr val="1B4E8F">
              <a:alpha val="75000"/>
            </a:srgbClr>
          </a:solidFill>
          <a:ln w="12700">
            <a:solidFill>
              <a:srgbClr val="1B4E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2560320"/>
            <a:ext cx="2651760" cy="347472"/>
          </a:xfrm>
          <a:prstGeom prst="rect">
            <a:avLst/>
          </a:prstGeom>
          <a:solidFill>
            <a:srgbClr val="1B4E8F"/>
          </a:solidFill>
          <a:ln w="12700">
            <a:solidFill>
              <a:srgbClr val="1B4E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5603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 ML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29718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Scikit-learn clustering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2735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Filtrage hybride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575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Profil utilisateur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87705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F0"/>
                </a:solidFill>
              </a:rPr>
              <a:t>▸  FAISS similarité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2E2E2E">
              <a:alpha val="80000"/>
            </a:srgbClr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343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PostgreSQL  ·  Redis (cache sessions)  ·  Docker  ·  Cloud VPS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2428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Base de données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04a — Module Vision par Ordinateur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12848" y="2286000"/>
            <a:ext cx="228600" cy="91440"/>
          </a:xfrm>
          <a:prstGeom prst="rect">
            <a:avLst/>
          </a:prstGeom>
          <a:solidFill>
            <a:srgbClr val="8B7B82"/>
          </a:solidFill>
          <a:ln w="12700">
            <a:solidFill>
              <a:srgbClr val="8B7B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31136" y="22311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▶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20240" cy="324612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920240" cy="347472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229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8229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Détection du visage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61872"/>
            <a:ext cx="166420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MediaPipe Face Mesh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478 landmarks faciaux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Temps réel (caméra web)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228600" cy="91440"/>
          </a:xfrm>
          <a:prstGeom prst="rect">
            <a:avLst/>
          </a:prstGeom>
          <a:solidFill>
            <a:srgbClr val="8B7B82"/>
          </a:solidFill>
          <a:ln w="12700">
            <a:solidFill>
              <a:srgbClr val="8B7B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22311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822960"/>
            <a:ext cx="1920240" cy="324612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822960"/>
            <a:ext cx="192024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8229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98064" y="8229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Analyse teinte peau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15184" y="1261872"/>
            <a:ext cx="166420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Espace colorimétrique LAB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Échelle Fitzpatrick (6 types)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Zone joue landmark #234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65392" y="2286000"/>
            <a:ext cx="228600" cy="91440"/>
          </a:xfrm>
          <a:prstGeom prst="rect">
            <a:avLst/>
          </a:prstGeom>
          <a:solidFill>
            <a:srgbClr val="8B7B82"/>
          </a:solidFill>
          <a:ln w="12700">
            <a:solidFill>
              <a:srgbClr val="8B7B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23113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822960"/>
            <a:ext cx="1920240" cy="324612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822960"/>
            <a:ext cx="1920240" cy="34747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8229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74336" y="8229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Segmentation zones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1456" y="1261872"/>
            <a:ext cx="166420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Lèvres · Yeux · Joues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Front · Pommettes · Nez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Contours précis polygons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03136" y="822960"/>
            <a:ext cx="1920240" cy="3246120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822960"/>
            <a:ext cx="1920240" cy="3474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76288" y="8229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50608" y="8229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 maquillage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67728" y="1261872"/>
            <a:ext cx="166420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Couleur + opacité + finish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Effet brillant (gloss)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cv2.addWeighted() fusion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solidFill>
            <a:srgbClr val="E8F5F2"/>
          </a:solidFill>
          <a:ln w="6350">
            <a:solidFill>
              <a:srgbClr val="2D7D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6F"/>
                </a:solidFill>
              </a:rPr>
              <a:t>Outil clé 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MediaPipe FaceMesh de Google — 468 points landmarks, inférence GPU, &lt; 10ms/frame, compatible navigateur via TensorFlow.js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04b — Module Machine Learning &amp; Recommandation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BA8"/>
                </a:solidFill>
              </a:rPr>
              <a:t>Analyse du profil utilisateur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59436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59436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16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14"/>
                </a:solidFill>
              </a:rPr>
              <a:t>Type de peau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Fitzpatrick I–VI (LAB)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3931920" cy="59436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01952"/>
            <a:ext cx="54864" cy="59436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9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14"/>
                </a:solidFill>
              </a:rPr>
              <a:t>Historique essais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Produits essayés / aimés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3931920" cy="59436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15184"/>
            <a:ext cx="54864" cy="59436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42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14"/>
                </a:solidFill>
              </a:rPr>
              <a:t>Préférences finish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9077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Mat · Satiné · Brillant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3931920" cy="59436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28416"/>
            <a:ext cx="54864" cy="59436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14"/>
                </a:solidFill>
              </a:rPr>
              <a:t>Undertones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210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Chaud · Froid · Neutre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822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</a:rPr>
              <a:t>Système de recommandation hybride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1188720"/>
            <a:ext cx="4206240" cy="667512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188720"/>
            <a:ext cx="54864" cy="66751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Filtrage collaboratif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1554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Utilisateurs aux profils similaires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1993392"/>
            <a:ext cx="4206240" cy="667512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993392"/>
            <a:ext cx="54864" cy="667512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066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Filtrage basé contenu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23591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Caractéristiques des produits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798064"/>
            <a:ext cx="4206240" cy="667512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798064"/>
            <a:ext cx="54864" cy="66751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712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Système hybride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1638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Collaboratif + Contenu = meilleure précision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3657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</a:rPr>
              <a:t>Métriques d'évaluation 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39776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B5BA8">
              <a:alpha val="15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977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BA8"/>
                </a:solidFill>
              </a:rPr>
              <a:t>Precision@K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32120" y="39776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B5BA8">
              <a:alpha val="15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3977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BA8"/>
                </a:solidFill>
              </a:rPr>
              <a:t>NDCG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39776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B5BA8">
              <a:alpha val="15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977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BA8"/>
                </a:solidFill>
              </a:rPr>
              <a:t>MAP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52360" y="39776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B5BA8">
              <a:alpha val="15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3977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BA8"/>
                </a:solidFill>
              </a:rPr>
              <a:t>F1-Score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114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</a:rPr>
              <a:t>Stack ML 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691640" y="4114800"/>
            <a:ext cx="1307592" cy="256032"/>
          </a:xfrm>
          <a:prstGeom prst="roundRect">
            <a:avLst>
              <a:gd name="adj" fmla="val 50000"/>
            </a:avLst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91640" y="411480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90672" y="4114800"/>
            <a:ext cx="1636776" cy="256032"/>
          </a:xfrm>
          <a:prstGeom prst="roundRect">
            <a:avLst>
              <a:gd name="adj" fmla="val 50000"/>
            </a:avLst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90672" y="411480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TensorFlow/Keras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18888" y="4114800"/>
            <a:ext cx="1801368" cy="256032"/>
          </a:xfrm>
          <a:prstGeom prst="roundRect">
            <a:avLst>
              <a:gd name="adj" fmla="val 50000"/>
            </a:avLst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8888" y="411480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Surprise / LightFM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11696" y="41148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11696" y="4114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FAISS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— Planning &amp; Roadmap 5 mois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54480" cy="402336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554480" cy="594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95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Mois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13385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Recherche &amp; Fondations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164592" cy="164592"/>
          </a:xfrm>
          <a:prstGeom prst="ellipse">
            <a:avLst/>
          </a:prstGeom>
          <a:solidFill>
            <a:srgbClr val="6D2E46">
              <a:alpha val="4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4533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10 papers fondateurs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164592" cy="164592"/>
          </a:xfrm>
          <a:prstGeom prst="ellipse">
            <a:avLst/>
          </a:prstGeom>
          <a:solidFill>
            <a:srgbClr val="6D2E46">
              <a:alpha val="4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8541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Cahier des charges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852928"/>
            <a:ext cx="164592" cy="164592"/>
          </a:xfrm>
          <a:prstGeom prst="ellipse">
            <a:avLst/>
          </a:prstGeom>
          <a:solidFill>
            <a:srgbClr val="6D2E46">
              <a:alpha val="4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2549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Setup GitHub + Docker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493008"/>
            <a:ext cx="164592" cy="164592"/>
          </a:xfrm>
          <a:prstGeom prst="ellipse">
            <a:avLst/>
          </a:prstGeom>
          <a:solidFill>
            <a:srgbClr val="6D2E46">
              <a:alpha val="4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6557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Démo MediaPipe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343400"/>
            <a:ext cx="1280160" cy="109728"/>
          </a:xfrm>
          <a:prstGeom prst="rect">
            <a:avLst/>
          </a:prstGeom>
          <a:solidFill>
            <a:srgbClr val="E8E0E3"/>
          </a:solidFill>
          <a:ln w="12700">
            <a:solidFill>
              <a:srgbClr val="E8E0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343400"/>
            <a:ext cx="1280160" cy="10972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480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B82"/>
                </a:solidFill>
              </a:rPr>
              <a:t>100%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93392" y="822960"/>
            <a:ext cx="1554480" cy="402336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93392" y="822960"/>
            <a:ext cx="1554480" cy="59436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8595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Mois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93392" y="113385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Module CV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30552" y="1572768"/>
            <a:ext cx="164592" cy="164592"/>
          </a:xfrm>
          <a:prstGeom prst="ellipse">
            <a:avLst/>
          </a:prstGeom>
          <a:solidFill>
            <a:srgbClr val="2D7D6F">
              <a:alpha val="40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59152" y="154533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Face Mesh (478 pts)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30552" y="2212848"/>
            <a:ext cx="164592" cy="164592"/>
          </a:xfrm>
          <a:prstGeom prst="ellipse">
            <a:avLst/>
          </a:prstGeom>
          <a:solidFill>
            <a:srgbClr val="2D7D6F">
              <a:alpha val="40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218541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Segmentation zones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30552" y="2852928"/>
            <a:ext cx="164592" cy="164592"/>
          </a:xfrm>
          <a:prstGeom prst="ellipse">
            <a:avLst/>
          </a:prstGeom>
          <a:solidFill>
            <a:srgbClr val="2D7D6F">
              <a:alpha val="40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59152" y="282549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Essai gloss temps réel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30552" y="3493008"/>
            <a:ext cx="164592" cy="164592"/>
          </a:xfrm>
          <a:prstGeom prst="ellipse">
            <a:avLst/>
          </a:prstGeom>
          <a:solidFill>
            <a:srgbClr val="2D7D6F">
              <a:alpha val="40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59152" y="346557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Colorimétrie LAB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30552" y="4343400"/>
            <a:ext cx="1280160" cy="109728"/>
          </a:xfrm>
          <a:prstGeom prst="rect">
            <a:avLst/>
          </a:prstGeom>
          <a:solidFill>
            <a:srgbClr val="E8E0E3"/>
          </a:solidFill>
          <a:ln w="12700">
            <a:solidFill>
              <a:srgbClr val="E8E0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93392" y="4480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B82"/>
                </a:solidFill>
              </a:rPr>
              <a:t>0%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12464" y="822960"/>
            <a:ext cx="1554480" cy="402336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12464" y="822960"/>
            <a:ext cx="1554480" cy="59436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2464" y="8595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Mois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12464" y="113385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Module ML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49624" y="1572768"/>
            <a:ext cx="164592" cy="164592"/>
          </a:xfrm>
          <a:prstGeom prst="ellipse">
            <a:avLst/>
          </a:prstGeom>
          <a:solidFill>
            <a:srgbClr val="2B5BA8">
              <a:alpha val="40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78224" y="154533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Fitzpatrick classifier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9624" y="2212848"/>
            <a:ext cx="164592" cy="164592"/>
          </a:xfrm>
          <a:prstGeom prst="ellipse">
            <a:avLst/>
          </a:prstGeom>
          <a:solidFill>
            <a:srgbClr val="2B5BA8">
              <a:alpha val="40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78224" y="218541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Filtrage collaboratif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9624" y="2852928"/>
            <a:ext cx="164592" cy="164592"/>
          </a:xfrm>
          <a:prstGeom prst="ellipse">
            <a:avLst/>
          </a:prstGeom>
          <a:solidFill>
            <a:srgbClr val="2B5BA8">
              <a:alpha val="40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78224" y="282549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Système hybride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9624" y="3493008"/>
            <a:ext cx="164592" cy="164592"/>
          </a:xfrm>
          <a:prstGeom prst="ellipse">
            <a:avLst/>
          </a:prstGeom>
          <a:solidFill>
            <a:srgbClr val="2B5BA8">
              <a:alpha val="40000"/>
            </a:srgbClr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78224" y="346557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Métriques P@K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9624" y="4343400"/>
            <a:ext cx="1280160" cy="109728"/>
          </a:xfrm>
          <a:prstGeom prst="rect">
            <a:avLst/>
          </a:prstGeom>
          <a:solidFill>
            <a:srgbClr val="E8E0E3"/>
          </a:solidFill>
          <a:ln w="12700">
            <a:solidFill>
              <a:srgbClr val="E8E0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12464" y="4480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B82"/>
                </a:solidFill>
              </a:rPr>
              <a:t>0%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31536" y="822960"/>
            <a:ext cx="1554480" cy="4023360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31536" y="822960"/>
            <a:ext cx="1554480" cy="59436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31536" y="8595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Mois 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31536" y="113385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Intégration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68696" y="1572768"/>
            <a:ext cx="164592" cy="164592"/>
          </a:xfrm>
          <a:prstGeom prst="ellipse">
            <a:avLst/>
          </a:prstGeom>
          <a:solidFill>
            <a:srgbClr val="B85C38">
              <a:alpha val="40000"/>
            </a:srgbClr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97296" y="154533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Full-Stack connecté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568696" y="2212848"/>
            <a:ext cx="164592" cy="164592"/>
          </a:xfrm>
          <a:prstGeom prst="ellipse">
            <a:avLst/>
          </a:prstGeom>
          <a:solidFill>
            <a:srgbClr val="B85C38">
              <a:alpha val="40000"/>
            </a:srgbClr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97296" y="218541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Dashboard B2C + B2B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568696" y="2852928"/>
            <a:ext cx="164592" cy="164592"/>
          </a:xfrm>
          <a:prstGeom prst="ellipse">
            <a:avLst/>
          </a:prstGeom>
          <a:solidFill>
            <a:srgbClr val="B85C38">
              <a:alpha val="40000"/>
            </a:srgbClr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97296" y="282549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Tests utilisateurs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568696" y="3493008"/>
            <a:ext cx="164592" cy="164592"/>
          </a:xfrm>
          <a:prstGeom prst="ellipse">
            <a:avLst/>
          </a:prstGeom>
          <a:solidFill>
            <a:srgbClr val="B85C38">
              <a:alpha val="40000"/>
            </a:srgbClr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97296" y="346557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Docker déploiement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568696" y="4343400"/>
            <a:ext cx="1280160" cy="109728"/>
          </a:xfrm>
          <a:prstGeom prst="rect">
            <a:avLst/>
          </a:prstGeom>
          <a:solidFill>
            <a:srgbClr val="E8E0E3"/>
          </a:solidFill>
          <a:ln w="12700">
            <a:solidFill>
              <a:srgbClr val="E8E0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4480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B82"/>
                </a:solidFill>
              </a:rPr>
              <a:t>0%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50608" y="822960"/>
            <a:ext cx="1554480" cy="4023360"/>
          </a:xfrm>
          <a:prstGeom prst="rect">
            <a:avLst/>
          </a:prstGeom>
          <a:solidFill>
            <a:srgbClr val="FDFAFB"/>
          </a:solidFill>
          <a:ln w="6350">
            <a:solidFill>
              <a:srgbClr val="99001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150608" y="822960"/>
            <a:ext cx="1554480" cy="5943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50608" y="8595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Mois 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50608" y="113385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Soutenance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87768" y="1572768"/>
            <a:ext cx="164592" cy="164592"/>
          </a:xfrm>
          <a:prstGeom prst="ellipse">
            <a:avLst/>
          </a:prstGeom>
          <a:solidFill>
            <a:srgbClr val="990011">
              <a:alpha val="40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16368" y="154533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Rapport 80-120p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287768" y="2212848"/>
            <a:ext cx="164592" cy="164592"/>
          </a:xfrm>
          <a:prstGeom prst="ellipse">
            <a:avLst/>
          </a:prstGeom>
          <a:solidFill>
            <a:srgbClr val="990011">
              <a:alpha val="40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16368" y="218541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Slides 20 max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287768" y="2852928"/>
            <a:ext cx="164592" cy="164592"/>
          </a:xfrm>
          <a:prstGeom prst="ellipse">
            <a:avLst/>
          </a:prstGeom>
          <a:solidFill>
            <a:srgbClr val="990011">
              <a:alpha val="40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16368" y="282549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Démo en direct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287768" y="3493008"/>
            <a:ext cx="164592" cy="164592"/>
          </a:xfrm>
          <a:prstGeom prst="ellipse">
            <a:avLst/>
          </a:prstGeom>
          <a:solidFill>
            <a:srgbClr val="990011">
              <a:alpha val="40000"/>
            </a:srgbClr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16368" y="3465576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</a:rPr>
              <a:t>Perspectives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287768" y="4343400"/>
            <a:ext cx="1280160" cy="109728"/>
          </a:xfrm>
          <a:prstGeom prst="rect">
            <a:avLst/>
          </a:prstGeom>
          <a:solidFill>
            <a:srgbClr val="E8E0E3"/>
          </a:solidFill>
          <a:ln w="12700">
            <a:solidFill>
              <a:srgbClr val="E8E0E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50608" y="4480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7B82"/>
                </a:solidFill>
              </a:rPr>
              <a:t>0%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 — Cahier des Charges &amp; Livrables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6F"/>
                </a:solidFill>
              </a:rPr>
              <a:t>KPIs de succès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solidFill>
            <a:srgbClr val="F0FAF8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Latence essai virtuel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1887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&lt; 100ms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931920" cy="45720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7007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Fréquence d'image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73736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7373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≥ 25 FPS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3931920" cy="457200"/>
          </a:xfrm>
          <a:prstGeom prst="rect">
            <a:avLst/>
          </a:prstGeom>
          <a:solidFill>
            <a:srgbClr val="F0FAF8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2494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Precision@10 recommandation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228600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2860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≥ 70%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3931920" cy="45720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798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Compatibilité navigateurs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0" y="283464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8346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Chrome · Firefox · Safari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3931920" cy="457200"/>
          </a:xfrm>
          <a:prstGeom prst="rect">
            <a:avLst/>
          </a:prstGeom>
          <a:solidFill>
            <a:srgbClr val="F0FAF8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3467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Sécurité données biométriques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33832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D7D6F">
              <a:alpha val="15000"/>
            </a:srgbClr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3383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7D6F"/>
                </a:solidFill>
              </a:rPr>
              <a:t>RGPD — traitement local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</a:rPr>
              <a:t>Livrables attendus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097280"/>
            <a:ext cx="4114800" cy="45720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188720"/>
            <a:ext cx="274320" cy="2743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113385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Rapport complet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134416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80-120 pages - Mois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645920"/>
            <a:ext cx="4114800" cy="457200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737360"/>
            <a:ext cx="274320" cy="274320"/>
          </a:xfrm>
          <a:prstGeom prst="ellipse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168249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Application demo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189280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Web fonctionnelle - Mois 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194560"/>
            <a:ext cx="4114800" cy="457200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286000"/>
            <a:ext cx="274320" cy="274320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223113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Presentation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20640" y="244144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20 slides max - Soutenance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743200"/>
            <a:ext cx="4114800" cy="457200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834640"/>
            <a:ext cx="274320" cy="274320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20640" y="277977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Code source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20640" y="299008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GitHub documente - En continu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291840"/>
            <a:ext cx="4114800" cy="457200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383280"/>
            <a:ext cx="274320" cy="2743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20640" y="332841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4"/>
                </a:solidFill>
              </a:rPr>
              <a:t>API Documentation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120640" y="353872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82"/>
                </a:solidFill>
              </a:rPr>
              <a:t>Swagger / OpenAPI - Mois 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Stack Technique &amp; Documentation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719072"/>
          </a:xfrm>
          <a:prstGeom prst="rect">
            <a:avLst/>
          </a:prstGeom>
          <a:solidFill>
            <a:srgbClr val="FDFAFB"/>
          </a:solidFill>
          <a:ln w="6350">
            <a:solidFill>
              <a:srgbClr val="2D7D6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046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Vision par Ordinateur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325880"/>
            <a:ext cx="128016" cy="128016"/>
          </a:xfrm>
          <a:prstGeom prst="ellipse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MediaPipe FaceMesh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874520"/>
            <a:ext cx="128016" cy="128016"/>
          </a:xfrm>
          <a:prstGeom prst="ellipse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105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OpenCV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325880"/>
            <a:ext cx="128016" cy="128016"/>
          </a:xfrm>
          <a:prstGeom prst="ellipse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TensorFlow.js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874520"/>
            <a:ext cx="128016" cy="128016"/>
          </a:xfrm>
          <a:prstGeom prst="ellipse">
            <a:avLst/>
          </a:prstGeom>
          <a:solidFill>
            <a:srgbClr val="2D7D6F"/>
          </a:solidFill>
          <a:ln w="12700">
            <a:solidFill>
              <a:srgbClr val="2D7D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18105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Segment Anything (SAM)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36592" y="804672"/>
            <a:ext cx="4114800" cy="1719072"/>
          </a:xfrm>
          <a:prstGeom prst="rect">
            <a:avLst/>
          </a:prstGeom>
          <a:solidFill>
            <a:srgbClr val="FDFAFB"/>
          </a:solidFill>
          <a:ln w="6350">
            <a:solidFill>
              <a:srgbClr val="2B5B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804672"/>
            <a:ext cx="4114800" cy="34747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8046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01184" y="1325880"/>
            <a:ext cx="128016" cy="128016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01184" y="1874520"/>
            <a:ext cx="128016" cy="128016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18105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TensorFlow / Keras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12864" y="1325880"/>
            <a:ext cx="128016" cy="128016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261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Surprise / LightFM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12864" y="1874520"/>
            <a:ext cx="128016" cy="128016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95744" y="18105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FAISS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724912"/>
            <a:ext cx="4114800" cy="1719072"/>
          </a:xfrm>
          <a:prstGeom prst="rect">
            <a:avLst/>
          </a:prstGeom>
          <a:solidFill>
            <a:srgbClr val="FDFAFB"/>
          </a:solidFill>
          <a:ln w="635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724912"/>
            <a:ext cx="411480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7249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&amp; API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912" y="3246120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FastAPI (Python)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" y="3794760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7307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50592" y="3246120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Redis (cache)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50592" y="3794760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33472" y="37307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Docker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36592" y="2724912"/>
            <a:ext cx="4114800" cy="1719072"/>
          </a:xfrm>
          <a:prstGeom prst="rect">
            <a:avLst/>
          </a:prstGeom>
          <a:solidFill>
            <a:srgbClr val="FDFAFB"/>
          </a:solidFill>
          <a:ln w="6350">
            <a:solidFill>
              <a:srgbClr val="B85C3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36592" y="2724912"/>
            <a:ext cx="4114800" cy="3474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27249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01184" y="3246120"/>
            <a:ext cx="128016" cy="128016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84064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React + Three.js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01184" y="3794760"/>
            <a:ext cx="128016" cy="128016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84064" y="37307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TensorFlow.js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12864" y="3246120"/>
            <a:ext cx="128016" cy="128016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95744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WebRTC (caméra)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12864" y="3794760"/>
            <a:ext cx="128016" cy="128016"/>
          </a:xfrm>
          <a:prstGeom prst="ellipse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95744" y="37307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REST API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EEF3FB"/>
          </a:solidFill>
          <a:ln w="6350">
            <a:solidFill>
              <a:srgbClr val="2B5B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BA8"/>
                </a:solidFill>
              </a:rPr>
              <a:t>Sources clés 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>BeautyGAN (ACM 2018)  ·  PSGAN (CVPR 2020)  ·  MediaPipe FaceMesh (Google)  ·  LightGCN (SIGIR 2020)  ·  Fitzpatrick Scale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6D2E46">
              <a:alpha val="20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C8956B">
              <a:alpha val="18000"/>
            </a:srgbClr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48640"/>
            <a:ext cx="64008" cy="1645920"/>
          </a:xfrm>
          <a:prstGeom prst="rect">
            <a:avLst/>
          </a:prstGeom>
          <a:solidFill>
            <a:srgbClr val="C8956B"/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B"/>
                </a:solidFill>
              </a:rPr>
              <a:t>Ce que nous avons accompli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Semaines 1–2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A0AA"/>
                </a:solidFill>
              </a:rPr>
              <a:t>Fondations complètes du projet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1148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2D7D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Cahier des charges structuré et complet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41148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2B5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011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Architecture technique validée et diagrammée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41148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700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Démo MediaPipe fonctionnelle (gloss temps réel)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670048"/>
            <a:ext cx="41148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C895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6700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10 papers fondateurs identifiés et listés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41148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2D7D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2841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Repo GitHub structuré + environnement Docker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328416"/>
            <a:ext cx="41148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2B5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32841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Datasets publics identifiés (LADN, CelebA, Fitzpatrick17k)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solidFill>
            <a:srgbClr val="C8956B">
              <a:alpha val="15000"/>
            </a:srgbClr>
          </a:solidFill>
          <a:ln w="12700">
            <a:solidFill>
              <a:srgbClr val="C895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5993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56B"/>
                </a:solidFill>
              </a:rPr>
              <a:t>Prochaine étape 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Mois 2 — Développement du module Vision par Ordinateur complet (segmentation + essai virtuel multi-produits)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5C68"/>
                </a:solidFill>
              </a:rPr>
              <a:t>Merci pour votre attention — Questions 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Intelligente d'Essai Virtuel Cosmétique</dc:title>
  <dc:subject>PptxGenJS Presentation</dc:subject>
  <dc:creator>Étudiant PFE</dc:creator>
  <cp:lastModifiedBy>Étudiant PFE</cp:lastModifiedBy>
  <cp:revision>1</cp:revision>
  <dcterms:created xsi:type="dcterms:W3CDTF">2026-03-26T13:30:19Z</dcterms:created>
  <dcterms:modified xsi:type="dcterms:W3CDTF">2026-03-26T13:30:19Z</dcterms:modified>
</cp:coreProperties>
</file>