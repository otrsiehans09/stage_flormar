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70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6D2E46">
              <a:alpha val="25000"/>
            </a:srgbClr>
          </a:solidFill>
          <a:ln w="12700">
            <a:solidFill>
              <a:srgbClr val="6D2E46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2926080"/>
            <a:ext cx="2011680" cy="2011680"/>
          </a:xfrm>
          <a:prstGeom prst="ellipse">
            <a:avLst/>
          </a:prstGeom>
          <a:solidFill>
            <a:srgbClr val="C8956B">
              <a:alpha val="20000"/>
            </a:srgbClr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57200" y="3657600"/>
            <a:ext cx="1645920" cy="1645920"/>
          </a:xfrm>
          <a:prstGeom prst="ellipse">
            <a:avLst/>
          </a:prstGeom>
          <a:solidFill>
            <a:srgbClr val="6D2E46">
              <a:alpha val="3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05840"/>
            <a:ext cx="54864" cy="2926080"/>
          </a:xfrm>
          <a:prstGeom prst="rect">
            <a:avLst/>
          </a:prstGeom>
          <a:solidFill>
            <a:srgbClr val="C8956B"/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005840"/>
            <a:ext cx="2144268" cy="256032"/>
          </a:xfrm>
          <a:prstGeom prst="roundRect">
            <a:avLst>
              <a:gd name="adj" fmla="val 50000"/>
            </a:avLst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005840"/>
            <a:ext cx="2144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Vision par Ordinateur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939796" y="1005840"/>
            <a:ext cx="1709928" cy="256032"/>
          </a:xfrm>
          <a:prstGeom prst="roundRect">
            <a:avLst>
              <a:gd name="adj" fmla="val 50000"/>
            </a:avLst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9796" y="100584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Machine Learning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9452" y="1005840"/>
            <a:ext cx="2057400" cy="256032"/>
          </a:xfrm>
          <a:prstGeom prst="roundRect">
            <a:avLst>
              <a:gd name="adj" fmla="val 50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9452" y="10058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Cosmétique B2C + B2B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4630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Plateforme Intelligente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40080" y="21945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C89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d'Essai Virtuel Cosmétique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40080" y="30175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B8A0AA"/>
                </a:solidFill>
              </a:rPr>
              <a:t>Recommandation personnalisée basée sur la Vision par Ordinateur et le Machine Learning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0" y="4434840"/>
            <a:ext cx="9144000" cy="704088"/>
          </a:xfrm>
          <a:prstGeom prst="rect">
            <a:avLst/>
          </a:prstGeom>
          <a:solidFill>
            <a:srgbClr val="6D2E46">
              <a:alpha val="7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4622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8D5DC"/>
                </a:solidFill>
              </a:rPr>
              <a:t>Projet de Fin d'Études  |  </a:t>
            </a:r>
            <a:r>
              <a:rPr lang="en-US" sz="1100" b="1" dirty="0">
                <a:solidFill>
                  <a:srgbClr val="E8D5DC"/>
                </a:solidFill>
              </a:rPr>
              <a:t>5 mois  |  </a:t>
            </a:r>
            <a:r>
              <a:rPr lang="en-US" sz="1100" dirty="0">
                <a:solidFill>
                  <a:srgbClr val="E8D5DC"/>
                </a:solidFill>
              </a:rPr>
              <a:t>Encadrant académique : [Nom]  |  Encadrant entreprise : [Nom]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présentation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64008" cy="10058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05156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34440" y="1051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Contexte &amp; Problématique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L'entreprise, le marché, les enjeux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194560"/>
            <a:ext cx="64008" cy="100584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228600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D7D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234440" y="2286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Objectifs du projet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697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Ce que la plateforme va accomplir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429000"/>
            <a:ext cx="64008" cy="100584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5204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B5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234440" y="35204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Architecture technique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3444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CV, ML, Full-Stack, données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96012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960120"/>
            <a:ext cx="64008" cy="1005840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10912" y="105156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85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715000" y="1051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Modules détaillés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150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Essai virtuel &amp; Recommandation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219456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2194560"/>
            <a:ext cx="64008" cy="10058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10912" y="228600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715000" y="2286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Planning &amp; Livrables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15000" y="2697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Roadmap 5 mois, jalons clés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42900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429000"/>
            <a:ext cx="64008" cy="100584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10912" y="35204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D7D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715000" y="35204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Cahier des charges validé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1500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Périmètre, contraintes, KPIs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01 — Contexte &amp; Problématique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920240" cy="132588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1920240" cy="64008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85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58191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des retours produits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dus à mauvaise teinte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50592" y="868680"/>
            <a:ext cx="1920240" cy="132588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50592" y="868680"/>
            <a:ext cx="1920240" cy="640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50592" y="1005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B2C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50592" y="158191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Grand public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e-commerce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6864" y="868680"/>
            <a:ext cx="1920240" cy="132588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26864" y="868680"/>
            <a:ext cx="1920240" cy="64008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1005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7D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B2B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626864" y="158191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Professionnels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beauté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03136" y="868680"/>
            <a:ext cx="1920240" cy="132588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03136" y="868680"/>
            <a:ext cx="1920240" cy="64008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03136" y="1005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B5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mois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03136" y="158191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Durée du projet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PFE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2377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D2E46"/>
                </a:solidFill>
              </a:rPr>
              <a:t>Problématique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2697480"/>
            <a:ext cx="8412480" cy="777240"/>
          </a:xfrm>
          <a:prstGeom prst="rect">
            <a:avLst/>
          </a:prstGeom>
          <a:solidFill>
            <a:srgbClr val="F9F0F4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697480"/>
            <a:ext cx="64008" cy="7772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2724912"/>
            <a:ext cx="8092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0A14"/>
                </a:solidFill>
              </a:rPr>
              <a:t>Comment permettre aux clients B2C et aux professionnels B2B d'essayer virtuellement les produits cosmétiques et de recevoir des recommandations personnalisées, en exploitant la vision par ordinateur et le machine learning 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3611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4A4A"/>
                </a:solidFill>
              </a:rPr>
              <a:t>Produits prioritaires :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81707" y="3638212"/>
            <a:ext cx="1645428" cy="256032"/>
          </a:xfrm>
          <a:prstGeom prst="roundRect">
            <a:avLst>
              <a:gd name="adj" fmla="val 50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2097" y="3646255"/>
            <a:ext cx="13000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Gloss / Rouge à lèvres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721524" y="3646255"/>
            <a:ext cx="1798743" cy="256032"/>
          </a:xfrm>
          <a:prstGeom prst="roundRect">
            <a:avLst>
              <a:gd name="adj" fmla="val 50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5639" y="3631777"/>
            <a:ext cx="12727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Fond de teint / BB Cream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88481" y="3662588"/>
            <a:ext cx="1607515" cy="256032"/>
          </a:xfrm>
          <a:prstGeom prst="roundRect">
            <a:avLst>
              <a:gd name="adj" fmla="val 50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69619" y="3662588"/>
            <a:ext cx="11716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Fard à paupières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376505" y="3653444"/>
            <a:ext cx="1483016" cy="256032"/>
          </a:xfrm>
          <a:prstGeom prst="roundRect">
            <a:avLst>
              <a:gd name="adj" fmla="val 50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41869" y="3653444"/>
            <a:ext cx="14176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Blush · Bronzer · Highlighter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069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4A4A"/>
                </a:solidFill>
              </a:rPr>
              <a:t>Présence digitale existante : </a:t>
            </a:r>
            <a:r>
              <a:rPr lang="en-US" sz="1200" dirty="0">
                <a:solidFill>
                  <a:srgbClr val="2D7D6F"/>
                </a:solidFill>
              </a:rPr>
              <a:t>Site e-commerce  +  Réseaux sociaux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02 — Objectifs du Projet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14800" cy="182880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64008" cy="1828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" y="1033272"/>
            <a:ext cx="502920" cy="502920"/>
          </a:xfrm>
          <a:prstGeom prst="ellipse">
            <a:avLst/>
          </a:prstGeom>
          <a:solidFill>
            <a:srgbClr val="6D2E46">
              <a:alpha val="15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033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10332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Essai virtuel temps réel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344168"/>
            <a:ext cx="2011680" cy="219456"/>
          </a:xfrm>
          <a:prstGeom prst="roundRect">
            <a:avLst>
              <a:gd name="adj" fmla="val 50000"/>
            </a:avLst>
          </a:prstGeom>
          <a:solidFill>
            <a:srgbClr val="6D2E46">
              <a:alpha val="15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3441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D2E46"/>
                </a:solidFill>
              </a:rPr>
              <a:t>&lt; 100ms · ≥ 25 FPS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" y="169164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Détecter le visage, segmenter les zones (lèvres, yeux, joues) et appliquer le maquillage en direct via la caméra.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36592" y="868680"/>
            <a:ext cx="4114800" cy="182880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36592" y="868680"/>
            <a:ext cx="64008" cy="182880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01184" y="1033272"/>
            <a:ext cx="502920" cy="502920"/>
          </a:xfrm>
          <a:prstGeom prst="ellipse">
            <a:avLst/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1184" y="1033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513832" y="10332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Recommandation personnalisée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513832" y="1344168"/>
            <a:ext cx="2011680" cy="219456"/>
          </a:xfrm>
          <a:prstGeom prst="roundRect">
            <a:avLst>
              <a:gd name="adj" fmla="val 50000"/>
            </a:avLst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13832" y="13441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5BA8"/>
                </a:solidFill>
              </a:rPr>
              <a:t>Precision@10 ≥ 70%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01184" y="169164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Analyser le profil utilisateur (teinte Fitzpatrick) et recommander les produits les plus adaptés.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880360"/>
            <a:ext cx="4114800" cy="182880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880360"/>
            <a:ext cx="64008" cy="182880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" y="3044952"/>
            <a:ext cx="502920" cy="502920"/>
          </a:xfrm>
          <a:prstGeom prst="ellipse">
            <a:avLst/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51560" y="3044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Intégration e-commerce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51560" y="3355848"/>
            <a:ext cx="2011680" cy="219456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" y="335584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API REST documentée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8912" y="370332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S'interfacer avec le site existant de l'entreprise pour rediriger vers l'achat et gérer le catalogue.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36592" y="2880360"/>
            <a:ext cx="4114800" cy="182880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36592" y="2880360"/>
            <a:ext cx="64008" cy="1828800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01184" y="3044952"/>
            <a:ext cx="502920" cy="502920"/>
          </a:xfrm>
          <a:prstGeom prst="ellipse">
            <a:avLst/>
          </a:prstGeom>
          <a:solidFill>
            <a:srgbClr val="B85C38">
              <a:alpha val="15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01184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513832" y="3044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Dashboard B2B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513832" y="3355848"/>
            <a:ext cx="2011680" cy="219456"/>
          </a:xfrm>
          <a:prstGeom prst="roundRect">
            <a:avLst>
              <a:gd name="adj" fmla="val 50000"/>
            </a:avLst>
          </a:prstGeom>
          <a:solidFill>
            <a:srgbClr val="B85C38">
              <a:alpha val="15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335584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5C38"/>
                </a:solidFill>
              </a:rPr>
              <a:t>Statistiques &amp; gestion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370332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Offrir aux professionnels un espace d'administration pour le catalogue et l'analyse des comportements.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2071B"/>
          </a:solidFill>
          <a:ln w="12700">
            <a:solidFill>
              <a:srgbClr val="12071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956B"/>
                </a:solidFill>
              </a:rPr>
              <a:t>03 — Architecture Technique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8046720" cy="640080"/>
          </a:xfrm>
          <a:prstGeom prst="rect">
            <a:avLst/>
          </a:prstGeom>
          <a:solidFill>
            <a:srgbClr val="7C3D6B">
              <a:alpha val="70000"/>
            </a:srgbClr>
          </a:solidFill>
          <a:ln w="12700">
            <a:solidFill>
              <a:srgbClr val="7C3D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868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Frontend — React + TensorFlow.js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16128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A0C8"/>
                </a:solidFill>
              </a:rPr>
              <a:t>Caméra · Essai virtuel · UI Recommandation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8046720" cy="640080"/>
          </a:xfrm>
          <a:prstGeom prst="rect">
            <a:avLst/>
          </a:prstGeom>
          <a:solidFill>
            <a:srgbClr val="2A5C8F">
              <a:alpha val="70000"/>
            </a:srgbClr>
          </a:solidFill>
          <a:ln w="12700">
            <a:solidFill>
              <a:srgbClr val="2A5C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45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Backend — FastAPI (Python)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193852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A0C8"/>
                </a:solidFill>
              </a:rPr>
              <a:t>Auth · Catalogue · Sessions · Routing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53128" y="2240280"/>
            <a:ext cx="228600" cy="320040"/>
          </a:xfrm>
          <a:prstGeom prst="rect">
            <a:avLst/>
          </a:prstGeom>
          <a:solidFill>
            <a:srgbClr val="C8956B"/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2560320"/>
            <a:ext cx="2651760" cy="1691640"/>
          </a:xfrm>
          <a:prstGeom prst="rect">
            <a:avLst/>
          </a:prstGeom>
          <a:solidFill>
            <a:srgbClr val="1F6B5E">
              <a:alpha val="75000"/>
            </a:srgbClr>
          </a:solidFill>
          <a:ln w="12700">
            <a:solidFill>
              <a:srgbClr val="1F6B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560320"/>
            <a:ext cx="2651760" cy="347472"/>
          </a:xfrm>
          <a:prstGeom prst="rect">
            <a:avLst/>
          </a:prstGeom>
          <a:solidFill>
            <a:srgbClr val="1F6B5E"/>
          </a:solidFill>
          <a:ln w="12700">
            <a:solidFill>
              <a:srgbClr val="1F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6032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Module CV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9718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MediaPipe Face Mesh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327355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OpenCV colorimétrie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57530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Segmentation zones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3877056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Fitzpatrick Tone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46120" y="2560320"/>
            <a:ext cx="2651760" cy="1691640"/>
          </a:xfrm>
          <a:prstGeom prst="rect">
            <a:avLst/>
          </a:prstGeom>
          <a:solidFill>
            <a:srgbClr val="6D2E46">
              <a:alpha val="75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2560320"/>
            <a:ext cx="2651760" cy="34747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256032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Produits ciblés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0" y="29718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Gloss / Rouge lèvres ⭐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83280" y="327355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Fond de teint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83280" y="357530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Fard à paupières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83280" y="3877056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Blush · Bronzer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2560320"/>
            <a:ext cx="2651760" cy="1691640"/>
          </a:xfrm>
          <a:prstGeom prst="rect">
            <a:avLst/>
          </a:prstGeom>
          <a:solidFill>
            <a:srgbClr val="1B4E8F">
              <a:alpha val="75000"/>
            </a:srgbClr>
          </a:solidFill>
          <a:ln w="12700">
            <a:solidFill>
              <a:srgbClr val="1B4E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2560320"/>
            <a:ext cx="2651760" cy="347472"/>
          </a:xfrm>
          <a:prstGeom prst="rect">
            <a:avLst/>
          </a:prstGeom>
          <a:solidFill>
            <a:srgbClr val="1B4E8F"/>
          </a:solidFill>
          <a:ln w="12700">
            <a:solidFill>
              <a:srgbClr val="1B4E8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256032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Module ML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29718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Scikit-learn clustering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327355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Filtrage hybride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63640" y="357530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Profil utilisateur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3877056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FAISS similarité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343400"/>
            <a:ext cx="8046720" cy="548640"/>
          </a:xfrm>
          <a:prstGeom prst="rect">
            <a:avLst/>
          </a:prstGeom>
          <a:solidFill>
            <a:srgbClr val="2E2E2E">
              <a:alpha val="80000"/>
            </a:srgbClr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343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</a:rPr>
              <a:t>PostgreSQL  ·  Redis (cache sessions)  ·  Docker  ·  Cloud VPS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424281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88888"/>
                </a:solidFill>
              </a:rPr>
              <a:t>Base de données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04a — Module Vision par Ordinateur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212848" y="2286000"/>
            <a:ext cx="228600" cy="91440"/>
          </a:xfrm>
          <a:prstGeom prst="rect">
            <a:avLst/>
          </a:prstGeom>
          <a:solidFill>
            <a:srgbClr val="8B7B82"/>
          </a:solidFill>
          <a:ln w="12700">
            <a:solidFill>
              <a:srgbClr val="8B7B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31136" y="223113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7B82"/>
                </a:solidFill>
              </a:rPr>
              <a:t>▶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1920240" cy="324612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822960"/>
            <a:ext cx="1920240" cy="347472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822960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DD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1792" y="82296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Détection du visage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" y="1261872"/>
            <a:ext cx="166420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MediaPipe Face Mesh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478 landmarks faciaux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Temps réel (caméra web)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228600" cy="91440"/>
          </a:xfrm>
          <a:prstGeom prst="rect">
            <a:avLst/>
          </a:prstGeom>
          <a:solidFill>
            <a:srgbClr val="8B7B82"/>
          </a:solidFill>
          <a:ln w="12700">
            <a:solidFill>
              <a:srgbClr val="8B7B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7408" y="223113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7B82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50592" y="822960"/>
            <a:ext cx="1920240" cy="324612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50592" y="822960"/>
            <a:ext cx="1920240" cy="34747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23744" y="822960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DD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798064" y="82296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Analyse teinte peau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15184" y="1261872"/>
            <a:ext cx="166420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Espace colorimétrique LAB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Échelle Fitzpatrick (6 types)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Zone joue landmark #234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65392" y="2286000"/>
            <a:ext cx="228600" cy="91440"/>
          </a:xfrm>
          <a:prstGeom prst="rect">
            <a:avLst/>
          </a:prstGeom>
          <a:solidFill>
            <a:srgbClr val="8B7B82"/>
          </a:solidFill>
          <a:ln w="12700">
            <a:solidFill>
              <a:srgbClr val="8B7B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223113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7B82"/>
                </a:solidFill>
              </a:rPr>
              <a:t>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26864" y="822960"/>
            <a:ext cx="1920240" cy="324612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26864" y="822960"/>
            <a:ext cx="1920240" cy="347472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0016" y="822960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DD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74336" y="82296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Segmentation zones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91456" y="1261872"/>
            <a:ext cx="166420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Lèvres · Yeux · Joues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Front · Pommettes · Nez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Contours précis polygons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03136" y="822960"/>
            <a:ext cx="1920240" cy="324612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03136" y="822960"/>
            <a:ext cx="1920240" cy="347472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76288" y="822960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DD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50608" y="82296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Application maquillage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67728" y="1261872"/>
            <a:ext cx="166420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Couleur + opacité + finish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Effet brillant (gloss)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cv2.addWeighted() fusion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4187952"/>
            <a:ext cx="8595360" cy="658368"/>
          </a:xfrm>
          <a:prstGeom prst="rect">
            <a:avLst/>
          </a:prstGeom>
          <a:solidFill>
            <a:srgbClr val="E8F5F2"/>
          </a:solidFill>
          <a:ln w="6350">
            <a:solidFill>
              <a:srgbClr val="2D7D6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206240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7D6F"/>
                </a:solidFill>
              </a:rPr>
              <a:t>Outil clé : </a:t>
            </a:r>
            <a:r>
              <a:rPr lang="en-US" sz="1100" dirty="0">
                <a:solidFill>
                  <a:srgbClr val="4A4A4A"/>
                </a:solidFill>
              </a:rPr>
              <a:t>MediaPipe FaceMesh de Google — 468 points landmarks, inférence GPU, &lt; 10ms/frame, compatible navigateur via TensorFlow.js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04b — Module Machine Learning &amp; Recommandation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5BA8"/>
                </a:solidFill>
              </a:rPr>
              <a:t>Analyse du profil utilisateur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3931920" cy="59436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54864" cy="59436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161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0A14"/>
                </a:solidFill>
              </a:rPr>
              <a:t>Type de peau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Fitzpatrick I–VI (LAB)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901952"/>
            <a:ext cx="3931920" cy="59436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901952"/>
            <a:ext cx="54864" cy="59436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92938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0A14"/>
                </a:solidFill>
              </a:rPr>
              <a:t>Historique essais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Produits essayés / aimés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615184"/>
            <a:ext cx="3931920" cy="59436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615184"/>
            <a:ext cx="54864" cy="59436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6426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0A14"/>
                </a:solidFill>
              </a:rPr>
              <a:t>Préférences finish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90779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Mat · Satiné · Brillant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328416"/>
            <a:ext cx="3931920" cy="59436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328416"/>
            <a:ext cx="54864" cy="59436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3558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0A14"/>
                </a:solidFill>
              </a:rPr>
              <a:t>Undertones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621024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Chaud · Froid · Neutre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822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</a:rPr>
              <a:t>Système de recommandation hybride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0" y="1188720"/>
            <a:ext cx="4206240" cy="667512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0" y="1188720"/>
            <a:ext cx="54864" cy="66751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126187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Filtrage collaboratif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0" y="15544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Utilisateurs aux profils similaires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0" y="1993392"/>
            <a:ext cx="4206240" cy="667512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0" y="1993392"/>
            <a:ext cx="54864" cy="667512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2066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Filtrage basé contenu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54880" y="235915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Caractéristiques des produits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0" y="2798064"/>
            <a:ext cx="4206240" cy="667512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0" y="2798064"/>
            <a:ext cx="54864" cy="667512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28712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Système hybride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54880" y="316382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Collaboratif + Contenu = meilleure précision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0" y="365760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4A4A"/>
                </a:solidFill>
              </a:rPr>
              <a:t>Métriques d'évaluation 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0" y="397764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0" y="39776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5BA8"/>
                </a:solidFill>
              </a:rPr>
              <a:t>Precision@K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32120" y="397764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32120" y="39776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5BA8"/>
                </a:solidFill>
              </a:rPr>
              <a:t>NDCG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92240" y="397764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92240" y="39776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5BA8"/>
                </a:solidFill>
              </a:rPr>
              <a:t>MAP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52360" y="397764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52360" y="39776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5BA8"/>
                </a:solidFill>
              </a:rPr>
              <a:t>F1-Score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64160" y="4494107"/>
            <a:ext cx="8527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4A4A"/>
                </a:solidFill>
              </a:rPr>
              <a:t>Stack ML :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542627" y="4434840"/>
            <a:ext cx="1307592" cy="256032"/>
          </a:xfrm>
          <a:prstGeom prst="roundRect">
            <a:avLst>
              <a:gd name="adj" fmla="val 50000"/>
            </a:avLst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98507" y="4434840"/>
            <a:ext cx="107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Scikit-learn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990088" y="4436872"/>
            <a:ext cx="1636776" cy="256032"/>
          </a:xfrm>
          <a:prstGeom prst="roundRect">
            <a:avLst>
              <a:gd name="adj" fmla="val 50000"/>
            </a:avLst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3259" y="442772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TensorFlow/Keras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18888" y="4425696"/>
            <a:ext cx="1801368" cy="256032"/>
          </a:xfrm>
          <a:prstGeom prst="roundRect">
            <a:avLst>
              <a:gd name="adj" fmla="val 50000"/>
            </a:avLst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93208" y="4425696"/>
            <a:ext cx="125272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Surprise / LightFM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69853" y="443687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69853" y="442569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FAISS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05 — Planning &amp; Roadmap 5 mois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554480" cy="402336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1554480" cy="5943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5953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Mois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113385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Recherche &amp; Fondations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572768"/>
            <a:ext cx="164592" cy="164592"/>
          </a:xfrm>
          <a:prstGeom prst="ellipse">
            <a:avLst/>
          </a:prstGeom>
          <a:solidFill>
            <a:srgbClr val="6D2E46">
              <a:alpha val="4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54533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10 papers fondateurs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2212848"/>
            <a:ext cx="164592" cy="164592"/>
          </a:xfrm>
          <a:prstGeom prst="ellipse">
            <a:avLst/>
          </a:prstGeom>
          <a:solidFill>
            <a:srgbClr val="6D2E46">
              <a:alpha val="4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8541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Cahier des charges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2852928"/>
            <a:ext cx="164592" cy="164592"/>
          </a:xfrm>
          <a:prstGeom prst="ellipse">
            <a:avLst/>
          </a:prstGeom>
          <a:solidFill>
            <a:srgbClr val="6D2E46">
              <a:alpha val="4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82549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Setup GitHub + Docker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3493008"/>
            <a:ext cx="164592" cy="164592"/>
          </a:xfrm>
          <a:prstGeom prst="ellipse">
            <a:avLst/>
          </a:prstGeom>
          <a:solidFill>
            <a:srgbClr val="6D2E46">
              <a:alpha val="4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46557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Démo MediaPipe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1480" y="4343400"/>
            <a:ext cx="1280160" cy="109728"/>
          </a:xfrm>
          <a:prstGeom prst="rect">
            <a:avLst/>
          </a:prstGeom>
          <a:solidFill>
            <a:srgbClr val="E8E0E3"/>
          </a:solidFill>
          <a:ln w="12700">
            <a:solidFill>
              <a:srgbClr val="E8E0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4343400"/>
            <a:ext cx="1280160" cy="10972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7B82"/>
                </a:solidFill>
              </a:rPr>
              <a:t>100%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993392" y="822960"/>
            <a:ext cx="1554480" cy="402336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993392" y="822960"/>
            <a:ext cx="1554480" cy="59436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93392" y="85953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Mois 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993392" y="113385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Module CV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130552" y="1572768"/>
            <a:ext cx="164592" cy="164592"/>
          </a:xfrm>
          <a:prstGeom prst="ellipse">
            <a:avLst/>
          </a:prstGeom>
          <a:solidFill>
            <a:srgbClr val="2D7D6F">
              <a:alpha val="40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59152" y="154533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Face Mesh (478 pts)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130552" y="2212848"/>
            <a:ext cx="164592" cy="164592"/>
          </a:xfrm>
          <a:prstGeom prst="ellipse">
            <a:avLst/>
          </a:prstGeom>
          <a:solidFill>
            <a:srgbClr val="2D7D6F">
              <a:alpha val="40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59152" y="218541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Segmentation zones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130552" y="2852928"/>
            <a:ext cx="164592" cy="164592"/>
          </a:xfrm>
          <a:prstGeom prst="ellipse">
            <a:avLst/>
          </a:prstGeom>
          <a:solidFill>
            <a:srgbClr val="2D7D6F">
              <a:alpha val="40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59152" y="282549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Essai gloss temps réel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130552" y="3493008"/>
            <a:ext cx="164592" cy="164592"/>
          </a:xfrm>
          <a:prstGeom prst="ellipse">
            <a:avLst/>
          </a:prstGeom>
          <a:solidFill>
            <a:srgbClr val="2D7D6F">
              <a:alpha val="40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59152" y="346557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Colorimétrie LAB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130552" y="4343400"/>
            <a:ext cx="1280160" cy="109728"/>
          </a:xfrm>
          <a:prstGeom prst="rect">
            <a:avLst/>
          </a:prstGeom>
          <a:solidFill>
            <a:srgbClr val="E8E0E3"/>
          </a:solidFill>
          <a:ln w="12700">
            <a:solidFill>
              <a:srgbClr val="E8E0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93392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7B82"/>
                </a:solidFill>
              </a:rPr>
              <a:t>0%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712464" y="822960"/>
            <a:ext cx="1554480" cy="402336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712464" y="822960"/>
            <a:ext cx="1554480" cy="59436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12464" y="85953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Mois 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712464" y="113385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Module ML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849624" y="1572768"/>
            <a:ext cx="164592" cy="164592"/>
          </a:xfrm>
          <a:prstGeom prst="ellipse">
            <a:avLst/>
          </a:prstGeom>
          <a:solidFill>
            <a:srgbClr val="2B5BA8">
              <a:alpha val="40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8224" y="154533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Fitzpatrick classifier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849624" y="2212848"/>
            <a:ext cx="164592" cy="164592"/>
          </a:xfrm>
          <a:prstGeom prst="ellipse">
            <a:avLst/>
          </a:prstGeom>
          <a:solidFill>
            <a:srgbClr val="2B5BA8">
              <a:alpha val="40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78224" y="218541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Filtrage collaboratif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849624" y="2852928"/>
            <a:ext cx="164592" cy="164592"/>
          </a:xfrm>
          <a:prstGeom prst="ellipse">
            <a:avLst/>
          </a:prstGeom>
          <a:solidFill>
            <a:srgbClr val="2B5BA8">
              <a:alpha val="40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78224" y="282549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Système hybride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849624" y="3493008"/>
            <a:ext cx="164592" cy="164592"/>
          </a:xfrm>
          <a:prstGeom prst="ellipse">
            <a:avLst/>
          </a:prstGeom>
          <a:solidFill>
            <a:srgbClr val="2B5BA8">
              <a:alpha val="40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78224" y="346557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Métriques P@K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9624" y="4343400"/>
            <a:ext cx="1280160" cy="109728"/>
          </a:xfrm>
          <a:prstGeom prst="rect">
            <a:avLst/>
          </a:prstGeom>
          <a:solidFill>
            <a:srgbClr val="E8E0E3"/>
          </a:solidFill>
          <a:ln w="12700">
            <a:solidFill>
              <a:srgbClr val="E8E0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12464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7B82"/>
                </a:solidFill>
              </a:rPr>
              <a:t>0%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31536" y="822960"/>
            <a:ext cx="1554480" cy="402336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5431536" y="822960"/>
            <a:ext cx="1554480" cy="594360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31536" y="85953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Mois 4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431536" y="113385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Intégration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68696" y="1572768"/>
            <a:ext cx="164592" cy="164592"/>
          </a:xfrm>
          <a:prstGeom prst="ellipse">
            <a:avLst/>
          </a:prstGeom>
          <a:solidFill>
            <a:srgbClr val="B85C38">
              <a:alpha val="40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97296" y="154533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Full-Stack connecté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568696" y="2212848"/>
            <a:ext cx="164592" cy="164592"/>
          </a:xfrm>
          <a:prstGeom prst="ellipse">
            <a:avLst/>
          </a:prstGeom>
          <a:solidFill>
            <a:srgbClr val="B85C38">
              <a:alpha val="40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97296" y="218541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Dashboard B2C + B2B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568696" y="2852928"/>
            <a:ext cx="164592" cy="164592"/>
          </a:xfrm>
          <a:prstGeom prst="ellipse">
            <a:avLst/>
          </a:prstGeom>
          <a:solidFill>
            <a:srgbClr val="B85C38">
              <a:alpha val="40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97296" y="282549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Tests utilisateurs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568696" y="3493008"/>
            <a:ext cx="164592" cy="164592"/>
          </a:xfrm>
          <a:prstGeom prst="ellipse">
            <a:avLst/>
          </a:prstGeom>
          <a:solidFill>
            <a:srgbClr val="B85C38">
              <a:alpha val="40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97296" y="346557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Docker déploiement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568696" y="4343400"/>
            <a:ext cx="1280160" cy="109728"/>
          </a:xfrm>
          <a:prstGeom prst="rect">
            <a:avLst/>
          </a:prstGeom>
          <a:solidFill>
            <a:srgbClr val="E8E0E3"/>
          </a:solidFill>
          <a:ln w="12700">
            <a:solidFill>
              <a:srgbClr val="E8E0E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31536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7B82"/>
                </a:solidFill>
              </a:rPr>
              <a:t>0%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50608" y="822960"/>
            <a:ext cx="1554480" cy="4023360"/>
          </a:xfrm>
          <a:prstGeom prst="rect">
            <a:avLst/>
          </a:prstGeom>
          <a:solidFill>
            <a:srgbClr val="FDFAFB"/>
          </a:solidFill>
          <a:ln w="6350">
            <a:solidFill>
              <a:srgbClr val="99001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150608" y="822960"/>
            <a:ext cx="1554480" cy="59436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50608" y="85953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Mois 5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150608" y="113385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Soutenance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287768" y="1572768"/>
            <a:ext cx="164592" cy="164592"/>
          </a:xfrm>
          <a:prstGeom prst="ellipse">
            <a:avLst/>
          </a:prstGeom>
          <a:solidFill>
            <a:srgbClr val="990011">
              <a:alpha val="40000"/>
            </a:srgbClr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516368" y="154533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Rapport 80-120p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7287768" y="2212848"/>
            <a:ext cx="164592" cy="164592"/>
          </a:xfrm>
          <a:prstGeom prst="ellipse">
            <a:avLst/>
          </a:prstGeom>
          <a:solidFill>
            <a:srgbClr val="990011">
              <a:alpha val="40000"/>
            </a:srgbClr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516368" y="218541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Slides 20 max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7287768" y="2852928"/>
            <a:ext cx="164592" cy="164592"/>
          </a:xfrm>
          <a:prstGeom prst="ellipse">
            <a:avLst/>
          </a:prstGeom>
          <a:solidFill>
            <a:srgbClr val="990011">
              <a:alpha val="40000"/>
            </a:srgbClr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516368" y="282549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Démo en direct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7287768" y="3493008"/>
            <a:ext cx="164592" cy="164592"/>
          </a:xfrm>
          <a:prstGeom prst="ellipse">
            <a:avLst/>
          </a:prstGeom>
          <a:solidFill>
            <a:srgbClr val="990011">
              <a:alpha val="40000"/>
            </a:srgbClr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516368" y="346557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Perspectives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7287768" y="4343400"/>
            <a:ext cx="1280160" cy="109728"/>
          </a:xfrm>
          <a:prstGeom prst="rect">
            <a:avLst/>
          </a:prstGeom>
          <a:solidFill>
            <a:srgbClr val="E8E0E3"/>
          </a:solidFill>
          <a:ln w="12700">
            <a:solidFill>
              <a:srgbClr val="E8E0E3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50608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7B82"/>
                </a:solidFill>
              </a:rPr>
              <a:t>0%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06 — Cahier des Charges &amp; Livrables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7D6F"/>
                </a:solidFill>
              </a:rPr>
              <a:t>KPIs de succès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931920" cy="457200"/>
          </a:xfrm>
          <a:prstGeom prst="rect">
            <a:avLst/>
          </a:prstGeom>
          <a:solidFill>
            <a:srgbClr val="F0FAF8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Latence essai virtuel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51760" y="118872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1887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&lt; 100ms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645920"/>
            <a:ext cx="393192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70078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Fréquence d'image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51760" y="173736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1760" y="173736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≥ 25 FPS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3931920" cy="457200"/>
          </a:xfrm>
          <a:prstGeom prst="rect">
            <a:avLst/>
          </a:prstGeom>
          <a:solidFill>
            <a:srgbClr val="F0FAF8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224942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Precision@10 recommandation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651760" y="228600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22860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≥ 70%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743200"/>
            <a:ext cx="393192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79806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Compatibilité navigateurs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651760" y="283464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51760" y="283464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Chrome · Firefox · Safari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291840"/>
            <a:ext cx="3931920" cy="457200"/>
          </a:xfrm>
          <a:prstGeom prst="rect">
            <a:avLst/>
          </a:prstGeom>
          <a:solidFill>
            <a:srgbClr val="F0FAF8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8640" y="33467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Sécurité données biométriques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651760" y="338328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51760" y="33832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RGPD — traitement local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63440" y="777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</a:rPr>
              <a:t>Livrables attendus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663440" y="1097280"/>
            <a:ext cx="411480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1188720"/>
            <a:ext cx="274320" cy="2743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0640" y="113385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Rapport complet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20640" y="1344168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80-120 pages - Mois 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1645920"/>
            <a:ext cx="411480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1737360"/>
            <a:ext cx="274320" cy="274320"/>
          </a:xfrm>
          <a:prstGeom prst="ellipse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20640" y="168249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Application demo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1892808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Web fonctionnelle - Mois 4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2194560"/>
            <a:ext cx="411480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54880" y="2286000"/>
            <a:ext cx="274320" cy="274320"/>
          </a:xfrm>
          <a:prstGeom prst="ellipse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120640" y="223113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Presentation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120640" y="2441448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20 slides max - Soutenance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2743200"/>
            <a:ext cx="411480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54880" y="2834640"/>
            <a:ext cx="274320" cy="274320"/>
          </a:xfrm>
          <a:prstGeom prst="ellipse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5488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120640" y="277977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Code source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120640" y="2990088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GitHub documente - En continu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663440" y="3291840"/>
            <a:ext cx="411480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754880" y="3383280"/>
            <a:ext cx="274320" cy="2743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05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120640" y="332841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API Documentation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120640" y="3538728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Swagger / OpenAPI - Mois 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Stack Technique &amp; Documentation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719072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804672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Vision par Ordinateur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" y="1325880"/>
            <a:ext cx="128016" cy="128016"/>
          </a:xfrm>
          <a:prstGeom prst="ellipse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2618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MediaPipe FaceMesh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" y="1874520"/>
            <a:ext cx="128016" cy="128016"/>
          </a:xfrm>
          <a:prstGeom prst="ellipse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8105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OpenCV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50592" y="1325880"/>
            <a:ext cx="128016" cy="128016"/>
          </a:xfrm>
          <a:prstGeom prst="ellipse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33472" y="12618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TensorFlow.js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50592" y="1874520"/>
            <a:ext cx="128016" cy="128016"/>
          </a:xfrm>
          <a:prstGeom prst="ellipse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18105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Segment Anything (SAM)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36592" y="804672"/>
            <a:ext cx="4114800" cy="1719072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36592" y="804672"/>
            <a:ext cx="4114800" cy="347472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01184" y="804672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Machine Learning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01184" y="1325880"/>
            <a:ext cx="128016" cy="128016"/>
          </a:xfrm>
          <a:prstGeom prst="ellipse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84064" y="12618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Scikit-learn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01184" y="1874520"/>
            <a:ext cx="128016" cy="128016"/>
          </a:xfrm>
          <a:prstGeom prst="ellipse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4064" y="18105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TensorFlow / Keras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12864" y="1325880"/>
            <a:ext cx="128016" cy="128016"/>
          </a:xfrm>
          <a:prstGeom prst="ellipse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95744" y="12618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Surprise / LightFM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912864" y="1874520"/>
            <a:ext cx="128016" cy="128016"/>
          </a:xfrm>
          <a:prstGeom prst="ellipse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95744" y="18105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FAISS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4320" y="2724912"/>
            <a:ext cx="4114800" cy="1719072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" y="2724912"/>
            <a:ext cx="4114800" cy="34747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" y="2724912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Backend &amp; API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8912" y="3246120"/>
            <a:ext cx="128016" cy="12801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" y="31821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FastAPI (Python)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8912" y="3794760"/>
            <a:ext cx="128016" cy="12801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373075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PostgreSQL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50592" y="3246120"/>
            <a:ext cx="128016" cy="12801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33472" y="31821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Redis (cache)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50592" y="3794760"/>
            <a:ext cx="128016" cy="12801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33472" y="373075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Docker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36592" y="2724912"/>
            <a:ext cx="4114800" cy="1719072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36592" y="2724912"/>
            <a:ext cx="4114800" cy="347472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2724912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Frontend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901184" y="3246120"/>
            <a:ext cx="128016" cy="128016"/>
          </a:xfrm>
          <a:prstGeom prst="ellipse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84064" y="31821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React + Three.js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901184" y="3794760"/>
            <a:ext cx="128016" cy="128016"/>
          </a:xfrm>
          <a:prstGeom prst="ellipse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84064" y="373075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TensorFlow.js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12864" y="3246120"/>
            <a:ext cx="128016" cy="128016"/>
          </a:xfrm>
          <a:prstGeom prst="ellipse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95744" y="31821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WebRTC (caméra)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912864" y="3794760"/>
            <a:ext cx="128016" cy="128016"/>
          </a:xfrm>
          <a:prstGeom prst="ellipse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95744" y="373075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REST API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4645152"/>
            <a:ext cx="8595360" cy="384048"/>
          </a:xfrm>
          <a:prstGeom prst="rect">
            <a:avLst/>
          </a:prstGeom>
          <a:solidFill>
            <a:srgbClr val="EEF3FB"/>
          </a:solidFill>
          <a:ln w="6350">
            <a:solidFill>
              <a:srgbClr val="2B5B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5BA8"/>
                </a:solidFill>
              </a:rPr>
              <a:t>Sources clés : </a:t>
            </a:r>
            <a:r>
              <a:rPr lang="en-US" sz="1000" dirty="0">
                <a:solidFill>
                  <a:srgbClr val="4A4A4A"/>
                </a:solidFill>
              </a:rPr>
              <a:t>BeautyGAN (ACM 2018)  ·  PSGAN (CVPR 2020)  ·  MediaPipe FaceMesh (Google)  ·  LightGCN (SIGIR 2020)  ·  Fitzpatrick Scale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6D2E46">
              <a:alpha val="2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3200400"/>
            <a:ext cx="2286000" cy="2286000"/>
          </a:xfrm>
          <a:prstGeom prst="ellipse">
            <a:avLst/>
          </a:prstGeom>
          <a:solidFill>
            <a:srgbClr val="C8956B">
              <a:alpha val="18000"/>
            </a:srgbClr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548640"/>
            <a:ext cx="64008" cy="1645920"/>
          </a:xfrm>
          <a:prstGeom prst="rect">
            <a:avLst/>
          </a:prstGeom>
          <a:solidFill>
            <a:srgbClr val="C8956B"/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956B"/>
                </a:solidFill>
              </a:rPr>
              <a:t>Ce que nous avons accompli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868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Semaines 1–2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85800" y="13898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0AA"/>
                </a:solidFill>
              </a:rPr>
              <a:t>Fondations complètes du projet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2D7D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0116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Cahier des charges structuré et complet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2011680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2B5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0116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Architecture technique validée et diagrammée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6D2E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670048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Démo MediaPipe fonctionnelle (gloss temps réel)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2670048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C895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2670048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10 papers fondateurs identifiés et listés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28416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2D7D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328416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Repo GitHub structuré + environnement Docker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3328416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2B5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3328416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Datasets publics identifiés (LADN, CelebA, Fitzpatrick17k)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8229600" cy="502920"/>
          </a:xfrm>
          <a:prstGeom prst="rect">
            <a:avLst/>
          </a:prstGeom>
          <a:solidFill>
            <a:srgbClr val="C8956B">
              <a:alpha val="15000"/>
            </a:srgbClr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059936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56B"/>
                </a:solidFill>
              </a:rPr>
              <a:t>Prochaine étape : </a:t>
            </a:r>
            <a:r>
              <a:rPr lang="en-US" sz="1100" dirty="0">
                <a:solidFill>
                  <a:srgbClr val="FFFFFF"/>
                </a:solidFill>
              </a:rPr>
              <a:t>Mois 2 — Développement du module Vision par Ordinateur complet (segmentation + essai virtuel multi-produits)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A5C68"/>
                </a:solidFill>
              </a:rPr>
              <a:t>Merci pour votre attention — Questions 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943</Words>
  <Application>Microsoft Office PowerPoint</Application>
  <PresentationFormat>Affichage à l'écran (16:9)</PresentationFormat>
  <Paragraphs>246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4" baseType="lpstr">
      <vt:lpstr>Arial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Plateforme Intelligente d'Essai Virtuel Cosmétique</dc:title>
  <dc:subject>PptxGenJS Presentation</dc:subject>
  <dc:creator>Étudiant PFE</dc:creator>
  <cp:lastModifiedBy>Sié Hans OUATTARA</cp:lastModifiedBy>
  <cp:revision>2</cp:revision>
  <dcterms:created xsi:type="dcterms:W3CDTF">2026-03-26T13:30:19Z</dcterms:created>
  <dcterms:modified xsi:type="dcterms:W3CDTF">2026-03-30T12:48:18Z</dcterms:modified>
</cp:coreProperties>
</file>