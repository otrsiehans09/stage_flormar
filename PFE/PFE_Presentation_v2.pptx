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640080"/>
            <a:ext cx="3291840" cy="3291840"/>
          </a:xfrm>
          <a:prstGeom prst="ellipse">
            <a:avLst/>
          </a:prstGeom>
          <a:solidFill>
            <a:srgbClr val="6D2E46">
              <a:alpha val="25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3017520"/>
            <a:ext cx="1828800" cy="1828800"/>
          </a:xfrm>
          <a:prstGeom prst="ellipse">
            <a:avLst/>
          </a:prstGeom>
          <a:solidFill>
            <a:srgbClr val="C8956B">
              <a:alpha val="20000"/>
            </a:srgbClr>
          </a:solidFill>
          <a:ln w="12700">
            <a:solidFill>
              <a:srgbClr val="C895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474720"/>
            <a:ext cx="1645920" cy="1645920"/>
          </a:xfrm>
          <a:prstGeom prst="ellipse">
            <a:avLst/>
          </a:prstGeom>
          <a:solidFill>
            <a:srgbClr val="6D2E46">
              <a:alpha val="28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60120"/>
            <a:ext cx="54864" cy="3017520"/>
          </a:xfrm>
          <a:prstGeom prst="rect">
            <a:avLst/>
          </a:prstGeom>
          <a:solidFill>
            <a:srgbClr val="C8956B"/>
          </a:solidFill>
          <a:ln w="12700">
            <a:solidFill>
              <a:srgbClr val="C895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960120"/>
            <a:ext cx="1828800" cy="246888"/>
          </a:xfrm>
          <a:prstGeom prst="roundRect">
            <a:avLst>
              <a:gd name="adj" fmla="val 48148"/>
            </a:avLst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 — Essai Virtuel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960120"/>
            <a:ext cx="1828800" cy="246888"/>
          </a:xfrm>
          <a:prstGeom prst="roundRect">
            <a:avLst>
              <a:gd name="adj" fmla="val 48148"/>
            </a:avLst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96012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Vision par Ordinateur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26280" y="960120"/>
            <a:ext cx="1077163" cy="246888"/>
          </a:xfrm>
          <a:prstGeom prst="roundRect">
            <a:avLst>
              <a:gd name="adj" fmla="val 48148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960120"/>
            <a:ext cx="107716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B2C + B2B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41732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Plateforme Intelligente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C89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d'Essai Virtuel Cosmétique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40080" y="296265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8A0AA"/>
                </a:solidFill>
              </a:rPr>
              <a:t>Plateforme web temps réel — Vision par Ordinateur · MediaPipe · FastAPI · Streamlit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6D2E46">
              <a:alpha val="65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D5DC"/>
                </a:solidFill>
              </a:rPr>
              <a:t>Projet de Fin d'Études  |  </a:t>
            </a:r>
            <a:pPr algn="l" indent="0" marL="0">
              <a:buNone/>
            </a:pPr>
            <a:r>
              <a:rPr lang="en-US" sz="1100" b="1" dirty="0">
                <a:solidFill>
                  <a:srgbClr val="E8D5DC"/>
                </a:solidFill>
              </a:rPr>
              <a:t>Phase 1 : 3 mois  |  </a:t>
            </a:r>
            <a:pPr algn="l" indent="0" marL="0">
              <a:buNone/>
            </a:pPr>
            <a:r>
              <a:rPr lang="en-US" sz="1100" dirty="0">
                <a:solidFill>
                  <a:srgbClr val="E8D5DC"/>
                </a:solidFill>
              </a:rPr>
              <a:t>Encadrant académique : [Nom]  |  Encadrant entreprise : [Nom]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présentation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1115568"/>
          </a:xfrm>
          <a:prstGeom prst="rect">
            <a:avLst/>
          </a:prstGeom>
          <a:solidFill>
            <a:srgbClr val="FDFAFB"/>
          </a:solidFill>
          <a:ln w="6350">
            <a:solidFill>
              <a:srgbClr val="6D2E4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64008" cy="111556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94183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96012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4"/>
                </a:solidFill>
              </a:rPr>
              <a:t>Contexte &amp; Stratégie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82"/>
                </a:solidFill>
              </a:rPr>
              <a:t>Problématique · Phases · Catalogue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167128"/>
            <a:ext cx="4160520" cy="1115568"/>
          </a:xfrm>
          <a:prstGeom prst="rect">
            <a:avLst/>
          </a:prstGeom>
          <a:solidFill>
            <a:srgbClr val="FDFAFB"/>
          </a:solidFill>
          <a:ln w="6350">
            <a:solidFill>
              <a:srgbClr val="2B5BA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67128"/>
            <a:ext cx="64008" cy="1115568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2402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5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188720" y="225856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4"/>
                </a:solidFill>
              </a:rPr>
              <a:t>Architecture technique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67004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82"/>
                </a:solidFill>
              </a:rPr>
              <a:t>Stack · Workflow · Déploiement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465576"/>
            <a:ext cx="4160520" cy="1115568"/>
          </a:xfrm>
          <a:prstGeom prst="rect">
            <a:avLst/>
          </a:prstGeom>
          <a:solidFill>
            <a:srgbClr val="FDFAFB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65576"/>
            <a:ext cx="64008" cy="1115568"/>
          </a:xfrm>
          <a:prstGeom prst="rect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53872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7D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88720" y="3557016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4"/>
                </a:solidFill>
              </a:rPr>
              <a:t>Pipeline Essai Virtuel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968496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82"/>
                </a:solidFill>
              </a:rPr>
              <a:t>18 produits · Zones CV · Rendus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868680"/>
            <a:ext cx="4160520" cy="1115568"/>
          </a:xfrm>
          <a:prstGeom prst="rect">
            <a:avLst/>
          </a:prstGeom>
          <a:solidFill>
            <a:srgbClr val="FDFAFB"/>
          </a:solidFill>
          <a:ln w="6350">
            <a:solidFill>
              <a:srgbClr val="B85C3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68680"/>
            <a:ext cx="64008" cy="1115568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94183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623560" y="96012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4"/>
                </a:solidFill>
              </a:rPr>
              <a:t>Pipeline Couleur-Produit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23560" y="137160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82"/>
                </a:solidFill>
              </a:rPr>
              <a:t>API catalogue · HEX/LAB · Sync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167128"/>
            <a:ext cx="4160520" cy="1115568"/>
          </a:xfrm>
          <a:prstGeom prst="rect">
            <a:avLst/>
          </a:prstGeom>
          <a:solidFill>
            <a:srgbClr val="FDFAFB"/>
          </a:solidFill>
          <a:ln w="6350">
            <a:solidFill>
              <a:srgbClr val="5B2C8D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167128"/>
            <a:ext cx="64008" cy="1115568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2402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C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623560" y="225856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4"/>
                </a:solidFill>
              </a:rPr>
              <a:t>Interface &amp; Démonstration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23560" y="267004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82"/>
                </a:solidFill>
              </a:rPr>
              <a:t>Streamlit · React · Webcam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465576"/>
            <a:ext cx="4160520" cy="1115568"/>
          </a:xfrm>
          <a:prstGeom prst="rect">
            <a:avLst/>
          </a:prstGeom>
          <a:solidFill>
            <a:srgbClr val="FDFAFB"/>
          </a:solidFill>
          <a:ln w="6350">
            <a:solidFill>
              <a:srgbClr val="2E7D32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465576"/>
            <a:ext cx="64008" cy="11155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53872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623560" y="3557016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4"/>
                </a:solidFill>
              </a:rPr>
              <a:t>Planning &amp; Livrables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23560" y="3968496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82"/>
                </a:solidFill>
              </a:rPr>
              <a:t>3 mois · KPIs · Jalons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01 — Contexte &amp; Stratégie Phasée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1920240" cy="1280160"/>
          </a:xfrm>
          <a:prstGeom prst="rect">
            <a:avLst/>
          </a:prstGeom>
          <a:solidFill>
            <a:srgbClr val="FDFAFB"/>
          </a:solidFill>
          <a:ln w="6350">
            <a:solidFill>
              <a:srgbClr val="B85C3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22960"/>
            <a:ext cx="1920240" cy="64008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601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15361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retours dus 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mauvaise teinte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32304" y="822960"/>
            <a:ext cx="1920240" cy="1280160"/>
          </a:xfrm>
          <a:prstGeom prst="rect">
            <a:avLst/>
          </a:prstGeom>
          <a:solidFill>
            <a:srgbClr val="FDFAFB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32304" y="822960"/>
            <a:ext cx="1920240" cy="64008"/>
          </a:xfrm>
          <a:prstGeom prst="rect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32304" y="9601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7D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32304" y="15361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types produits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essai virtuel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08576" y="822960"/>
            <a:ext cx="1920240" cy="1280160"/>
          </a:xfrm>
          <a:prstGeom prst="rect">
            <a:avLst/>
          </a:prstGeom>
          <a:solidFill>
            <a:srgbClr val="FDFAFB"/>
          </a:solidFill>
          <a:ln w="6350">
            <a:solidFill>
              <a:srgbClr val="2B5BA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822960"/>
            <a:ext cx="1920240" cy="64008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9601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5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mois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08576" y="15361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durée Phase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pure CV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84848" y="822960"/>
            <a:ext cx="1920240" cy="1280160"/>
          </a:xfrm>
          <a:prstGeom prst="rect">
            <a:avLst/>
          </a:prstGeom>
          <a:solidFill>
            <a:srgbClr val="FDFAFB"/>
          </a:solidFill>
          <a:ln w="6350">
            <a:solidFill>
              <a:srgbClr val="6D2E4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84848" y="822960"/>
            <a:ext cx="1920240" cy="640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84848" y="9601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B2C+B2B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84848" y="15361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double public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cible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240280"/>
            <a:ext cx="4206240" cy="1371600"/>
          </a:xfrm>
          <a:prstGeom prst="rect">
            <a:avLst/>
          </a:prstGeom>
          <a:solidFill>
            <a:srgbClr val="F0FAF8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240280"/>
            <a:ext cx="64008" cy="1371600"/>
          </a:xfrm>
          <a:prstGeom prst="rect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2860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7D6F"/>
                </a:solidFill>
              </a:rPr>
              <a:t>Phase 1 — En cours (3 mois)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26060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Plateforme d'essai virtuel complète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18 produits · Teint · Yeux · Lèvres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Déploiement et mise en production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81728" y="2240280"/>
            <a:ext cx="4206240" cy="1371600"/>
          </a:xfrm>
          <a:prstGeom prst="rect">
            <a:avLst/>
          </a:prstGeom>
          <a:solidFill>
            <a:srgbClr val="F5F0FA"/>
          </a:solidFill>
          <a:ln w="6350">
            <a:solidFill>
              <a:srgbClr val="5B2C8D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2240280"/>
            <a:ext cx="64008" cy="1371600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2860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8D"/>
                </a:solidFill>
              </a:rPr>
              <a:t>Phase 2 — Post-déploiement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64608" y="26060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Recommandation ML hybride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Basée sur données d'usage réelles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Collaboratif + Contenu + Colorimétrie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62272" y="2816352"/>
            <a:ext cx="228600" cy="109728"/>
          </a:xfrm>
          <a:prstGeom prst="rect">
            <a:avLst/>
          </a:prstGeom>
          <a:solidFill>
            <a:srgbClr val="8B7B82"/>
          </a:solidFill>
          <a:ln w="12700">
            <a:solidFill>
              <a:srgbClr val="8B7B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25696" y="272491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7B82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56032" y="3749040"/>
            <a:ext cx="8631936" cy="54864"/>
          </a:xfrm>
          <a:prstGeom prst="rect">
            <a:avLst/>
          </a:prstGeom>
          <a:solidFill>
            <a:srgbClr val="C8956B"/>
          </a:solidFill>
          <a:ln w="12700">
            <a:solidFill>
              <a:srgbClr val="C895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3840480"/>
            <a:ext cx="8631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7B82"/>
                </a:solidFill>
              </a:rPr>
              <a:t>Justification du phasage : la recommandation sera plus pertinente avec des données d'usage réelles collectées en Phase 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071B"/>
          </a:solidFill>
          <a:ln w="12700">
            <a:solidFill>
              <a:srgbClr val="1207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956B"/>
                </a:solidFill>
              </a:rPr>
              <a:t>02 — Architecture Technique &amp; Workflow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530352"/>
          </a:xfrm>
          <a:prstGeom prst="rect">
            <a:avLst/>
          </a:prstGeom>
          <a:solidFill>
            <a:srgbClr val="7C3D6B">
              <a:alpha val="72000"/>
            </a:srgbClr>
          </a:solidFill>
          <a:ln w="12700">
            <a:solidFill>
              <a:srgbClr val="7C3D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77824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8F0"/>
                </a:solidFill>
              </a:rPr>
              <a:t>Interface — Streamlit (démo/tests) · React (livrable final optionnel)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26464"/>
            <a:ext cx="8229600" cy="530352"/>
          </a:xfrm>
          <a:prstGeom prst="rect">
            <a:avLst/>
          </a:prstGeom>
          <a:solidFill>
            <a:srgbClr val="2A5C8F">
              <a:alpha val="72000"/>
            </a:srgbClr>
          </a:solidFill>
          <a:ln w="12700">
            <a:solidFill>
              <a:srgbClr val="2A5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9961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8F0"/>
                </a:solidFill>
              </a:rPr>
              <a:t>Backend — FastAPI (Python) · API REST · Auth · Catalogue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048256"/>
            <a:ext cx="8229600" cy="530352"/>
          </a:xfrm>
          <a:prstGeom prst="rect">
            <a:avLst/>
          </a:prstGeom>
          <a:solidFill>
            <a:srgbClr val="1A6B5E">
              <a:alpha val="72000"/>
            </a:srgbClr>
          </a:solidFill>
          <a:ln w="12700">
            <a:solidFill>
              <a:srgbClr val="1A6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2140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8F0"/>
                </a:solidFill>
              </a:rPr>
              <a:t>Module CV — MediaPipe FaceLandmarker · OpenCV · zones/ · renderers/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8229600" cy="457200"/>
          </a:xfrm>
          <a:prstGeom prst="rect">
            <a:avLst/>
          </a:prstGeom>
          <a:solidFill>
            <a:srgbClr val="2E2E2E">
              <a:alpha val="80000"/>
            </a:srgbClr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70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PostgreSQL (catalogue + users)  ·  Redis (cache)  ·  Docker Compose  ·  Streamlit Cloud / VPS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56B"/>
                </a:solidFill>
              </a:rPr>
              <a:t>Workflow de développement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30168"/>
            <a:ext cx="1920240" cy="1188720"/>
          </a:xfrm>
          <a:prstGeom prst="rect">
            <a:avLst/>
          </a:prstGeom>
          <a:solidFill>
            <a:srgbClr val="4A2070">
              <a:alpha val="70000"/>
            </a:srgbClr>
          </a:solidFill>
          <a:ln w="12700">
            <a:solidFill>
              <a:srgbClr val="4A20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630168"/>
            <a:ext cx="1920240" cy="347472"/>
          </a:xfrm>
          <a:prstGeom prst="rect">
            <a:avLst/>
          </a:prstGeom>
          <a:solidFill>
            <a:srgbClr val="4A2070"/>
          </a:solidFill>
          <a:ln w="12700">
            <a:solidFill>
              <a:srgbClr val="4A20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6674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 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 Claude Code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06908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</a:rPr>
              <a:t>Travail principal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</a:rPr>
              <a:t>Code · Modules · Backend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06040" y="3630168"/>
            <a:ext cx="1920240" cy="1188720"/>
          </a:xfrm>
          <a:prstGeom prst="rect">
            <a:avLst/>
          </a:prstGeom>
          <a:solidFill>
            <a:srgbClr val="1A5F8A">
              <a:alpha val="70000"/>
            </a:srgbClr>
          </a:solidFill>
          <a:ln w="12700">
            <a:solidFill>
              <a:srgbClr val="1A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6040" y="3630168"/>
            <a:ext cx="1920240" cy="347472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366674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Jupyter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Local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97480" y="406908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</a:rPr>
              <a:t>Tests 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</a:rPr>
              <a:t>Recommandation Phase 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630168"/>
            <a:ext cx="1920240" cy="1188720"/>
          </a:xfrm>
          <a:prstGeom prst="rect">
            <a:avLst/>
          </a:prstGeom>
          <a:solidFill>
            <a:srgbClr val="1A6B5E">
              <a:alpha val="70000"/>
            </a:srgbClr>
          </a:solidFill>
          <a:ln w="12700">
            <a:solidFill>
              <a:srgbClr val="1A6B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630168"/>
            <a:ext cx="1920240" cy="347472"/>
          </a:xfrm>
          <a:prstGeom prst="rect">
            <a:avLst/>
          </a:prstGeom>
          <a:solidFill>
            <a:srgbClr val="1A6B5E"/>
          </a:solidFill>
          <a:ln w="12700">
            <a:solidFill>
              <a:srgbClr val="1A6B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66674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 Colab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406908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</a:rPr>
              <a:t>GPU si besoin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</a:rPr>
              <a:t>Entraînement modèles lourds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3720" y="3630168"/>
            <a:ext cx="1920240" cy="1188720"/>
          </a:xfrm>
          <a:prstGeom prst="rect">
            <a:avLst/>
          </a:prstGeom>
          <a:solidFill>
            <a:srgbClr val="555555">
              <a:alpha val="70000"/>
            </a:srgbClr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3630168"/>
            <a:ext cx="1920240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366674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Docker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95160" y="406908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</a:rPr>
              <a:t>Déploiement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</a:rPr>
              <a:t>Production · Démo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7A7A"/>
                </a:solidFill>
              </a:rPr>
              <a:t>Retraits justifiés : SAM (2.5 Go, surdimensionné) · Three.js (2D suffit) · mp.solutions (cassé ≥ 0.10.14)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03 — Catalogue Produits : 18 Types Couverts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3246120"/>
          </a:xfrm>
          <a:prstGeom prst="rect">
            <a:avLst/>
          </a:prstGeom>
          <a:solidFill>
            <a:srgbClr val="FDFAFB"/>
          </a:solidFill>
          <a:ln w="6350">
            <a:solidFill>
              <a:srgbClr val="B85C3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743200" cy="384048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046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Teint — 8 produits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" y="1307592"/>
            <a:ext cx="118872" cy="118872"/>
          </a:xfrm>
          <a:prstGeom prst="ellipse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618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Fond de teint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" y="1645920"/>
            <a:ext cx="118872" cy="118872"/>
          </a:xfrm>
          <a:prstGeom prst="ellipse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BB/CC Crème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1984248"/>
            <a:ext cx="118872" cy="118872"/>
          </a:xfrm>
          <a:prstGeom prst="ellipse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938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Anti-cernes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" y="2322576"/>
            <a:ext cx="118872" cy="118872"/>
          </a:xfrm>
          <a:prstGeom prst="ellipse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2768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Contouring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660904"/>
            <a:ext cx="118872" cy="118872"/>
          </a:xfrm>
          <a:prstGeom prst="ellipse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6151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Blush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" y="2999232"/>
            <a:ext cx="118872" cy="118872"/>
          </a:xfrm>
          <a:prstGeom prst="ellipse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9535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Poudres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" y="3337560"/>
            <a:ext cx="118872" cy="118872"/>
          </a:xfrm>
          <a:prstGeom prst="ellipse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Highlighter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" y="3675888"/>
            <a:ext cx="118872" cy="118872"/>
          </a:xfrm>
          <a:prstGeom prst="ellipse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630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Primer/Fixateur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0" y="804672"/>
            <a:ext cx="2743200" cy="3246120"/>
          </a:xfrm>
          <a:prstGeom prst="rect">
            <a:avLst/>
          </a:prstGeom>
          <a:solidFill>
            <a:srgbClr val="FDFAFB"/>
          </a:solidFill>
          <a:ln w="6350">
            <a:solidFill>
              <a:srgbClr val="2B5BA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804672"/>
            <a:ext cx="2743200" cy="384048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8046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Yeux — 6 produits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64992" y="1307592"/>
            <a:ext cx="118872" cy="118872"/>
          </a:xfrm>
          <a:prstGeom prst="ellipse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12618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Fard à paupières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64992" y="1645920"/>
            <a:ext cx="118872" cy="118872"/>
          </a:xfrm>
          <a:prstGeom prst="ellipse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7872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Base paupières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64992" y="1984248"/>
            <a:ext cx="118872" cy="118872"/>
          </a:xfrm>
          <a:prstGeom prst="ellipse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7872" y="1938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Eyeliner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64992" y="2322576"/>
            <a:ext cx="118872" cy="118872"/>
          </a:xfrm>
          <a:prstGeom prst="ellipse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47872" y="22768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Crayon yeux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64992" y="2660904"/>
            <a:ext cx="118872" cy="118872"/>
          </a:xfrm>
          <a:prstGeom prst="ellipse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47872" y="26151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Mascara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64992" y="2999232"/>
            <a:ext cx="118872" cy="118872"/>
          </a:xfrm>
          <a:prstGeom prst="ellipse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47872" y="29535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Sourcils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26480" y="804672"/>
            <a:ext cx="2743200" cy="3246120"/>
          </a:xfrm>
          <a:prstGeom prst="rect">
            <a:avLst/>
          </a:prstGeom>
          <a:solidFill>
            <a:srgbClr val="FDFAFB"/>
          </a:solidFill>
          <a:ln w="6350">
            <a:solidFill>
              <a:srgbClr val="6D2E4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804672"/>
            <a:ext cx="2743200" cy="38404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36208" y="8046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Lèvres — 4 produits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91072" y="1307592"/>
            <a:ext cx="118872" cy="11887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73952" y="12618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5C38"/>
                </a:solidFill>
              </a:rPr>
              <a:t>Rouge à lèvres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91072" y="1645920"/>
            <a:ext cx="118872" cy="11887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73952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5C38"/>
                </a:solidFill>
              </a:rPr>
              <a:t>Gloss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91072" y="1984248"/>
            <a:ext cx="118872" cy="11887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73952" y="1938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Baume à lèvres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91072" y="2322576"/>
            <a:ext cx="118872" cy="11887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3952" y="22768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Crayon à lèvres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74320" y="4160520"/>
            <a:ext cx="8595360" cy="640080"/>
          </a:xfrm>
          <a:prstGeom prst="rect">
            <a:avLst/>
          </a:prstGeom>
          <a:solidFill>
            <a:srgbClr val="FFF8F0"/>
          </a:solidFill>
          <a:ln w="6350">
            <a:solidFill>
              <a:srgbClr val="B85C3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57200" y="418795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C38"/>
                </a:solidFill>
              </a:rPr>
              <a:t>Hors périmètre Phase 1 :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Ongles (MediaPipe Hands → Phase 2+) · Soins corps · Nettoyants · Masques (fiche enrichie + reco par type de peau)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5C38"/>
                </a:solidFill>
              </a:rPr>
              <a:t>⚠ Lèvres : démo technique validée — rendu final à raffiner (feathering · finish mat/satiné/brillant · reflets)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03 — Module CV : Pipeline de Rendu par Zone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874520" y="21031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B82"/>
                </a:solidFill>
              </a:rPr>
              <a:t>▶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554480" cy="3017520"/>
          </a:xfrm>
          <a:prstGeom prst="rect">
            <a:avLst/>
          </a:prstGeom>
          <a:solidFill>
            <a:srgbClr val="FDFAFB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554480" cy="384048"/>
          </a:xfrm>
          <a:prstGeom prst="rect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50392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DDDD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" y="8503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FaceLandmarker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25880"/>
            <a:ext cx="1325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478 landmarks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Tasks API float16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&lt; 10ms/frame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93592" y="21031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B82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93392" y="822960"/>
            <a:ext cx="1554480" cy="3017520"/>
          </a:xfrm>
          <a:prstGeom prst="rect">
            <a:avLst/>
          </a:prstGeom>
          <a:solidFill>
            <a:srgbClr val="FDFAFB"/>
          </a:solidFill>
          <a:ln w="6350">
            <a:solidFill>
              <a:srgbClr val="2B5BA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822960"/>
            <a:ext cx="1554480" cy="384048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4832" y="850392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DDDD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40864" y="8503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Segmentation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30552" y="1325880"/>
            <a:ext cx="1325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zones/skin.py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zones/eyes.py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zones/lips.py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12664" y="21031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B82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12464" y="822960"/>
            <a:ext cx="1554480" cy="3017520"/>
          </a:xfrm>
          <a:prstGeom prst="rect">
            <a:avLst/>
          </a:prstGeom>
          <a:solidFill>
            <a:srgbClr val="FDFAFB"/>
          </a:solidFill>
          <a:ln w="6350">
            <a:solidFill>
              <a:srgbClr val="B85C3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12464" y="822960"/>
            <a:ext cx="1554480" cy="384048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03904" y="850392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DDDD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059936" y="8503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Extraction HEX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9624" y="1325880"/>
            <a:ext cx="1325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K-Means image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couleur_hex LAB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catalogue réel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31736" y="21031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B82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31536" y="822960"/>
            <a:ext cx="1554480" cy="3017520"/>
          </a:xfrm>
          <a:prstGeom prst="rect">
            <a:avLst/>
          </a:prstGeom>
          <a:solidFill>
            <a:srgbClr val="FDFAFB"/>
          </a:solidFill>
          <a:ln w="6350">
            <a:solidFill>
              <a:srgbClr val="6D2E4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31536" y="822960"/>
            <a:ext cx="1554480" cy="38404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22976" y="850392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DDDD"/>
                </a:solidFill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779008" y="8503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Rendu maquillage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68696" y="1325880"/>
            <a:ext cx="1325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alpha_blend.py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specular.py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gradient.py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50608" y="822960"/>
            <a:ext cx="1554480" cy="3017520"/>
          </a:xfrm>
          <a:prstGeom prst="rect">
            <a:avLst/>
          </a:prstGeom>
          <a:solidFill>
            <a:srgbClr val="FDFAFB"/>
          </a:solidFill>
          <a:ln w="6350">
            <a:solidFill>
              <a:srgbClr val="2E7D32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50608" y="822960"/>
            <a:ext cx="155448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42048" y="850392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DDDD"/>
                </a:solidFill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498080" y="8503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Affichage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87768" y="1325880"/>
            <a:ext cx="1325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Canvas HTML5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Streamlit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Temps réel 25+ FPS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3977640"/>
            <a:ext cx="8595360" cy="731520"/>
          </a:xfrm>
          <a:prstGeom prst="rect">
            <a:avLst/>
          </a:prstGeom>
          <a:solidFill>
            <a:srgbClr val="EEF7F5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4005072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6F"/>
                </a:solidFill>
              </a:rPr>
              <a:t>Techniques de rendu :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Alpha blending (teint)  ·  Gradient radial (blush/highlighter)  ·  Reflet spéculaire (gloss)  ·  cv2.polylines (eyeliner)  ·  Flou gaussien (primer)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 — Pipeline Couleur-Produit : Fidélité au Catalogue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977640" cy="658368"/>
          </a:xfrm>
          <a:prstGeom prst="rect">
            <a:avLst/>
          </a:prstGeom>
          <a:solidFill>
            <a:srgbClr val="FFF3EE"/>
          </a:solidFill>
          <a:ln w="6350">
            <a:solidFill>
              <a:srgbClr val="B85C3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64008" cy="658368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2104"/>
            <a:ext cx="3657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C38"/>
                </a:solidFill>
              </a:rPr>
              <a:t>Problème :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Les couleurs d'essai doivent correspondre exactement aux produits réels du site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34840" y="804672"/>
            <a:ext cx="4434840" cy="658368"/>
          </a:xfrm>
          <a:prstGeom prst="rect">
            <a:avLst/>
          </a:prstGeom>
          <a:solidFill>
            <a:srgbClr val="F0FAF8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34840" y="804672"/>
            <a:ext cx="64008" cy="658368"/>
          </a:xfrm>
          <a:prstGeom prst="rect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832104"/>
            <a:ext cx="4114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6F"/>
                </a:solidFill>
              </a:rPr>
              <a:t>Solution :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K-Means sur l'image officielle du produit → HEX + LAB stockés en base → appliqués à l'essai virtuel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627632"/>
            <a:ext cx="1572768" cy="1261872"/>
          </a:xfrm>
          <a:prstGeom prst="rect">
            <a:avLst/>
          </a:prstGeom>
          <a:solidFill>
            <a:srgbClr val="FDFAFB"/>
          </a:solidFill>
          <a:ln w="6350">
            <a:solidFill>
              <a:srgbClr val="5B2C8D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627632"/>
            <a:ext cx="1572768" cy="347472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45920"/>
            <a:ext cx="1435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Catalogue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066544"/>
            <a:ext cx="14081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JSON/REST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entreprise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19656" y="215798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B82"/>
                </a:solidFill>
              </a:rPr>
              <a:t>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0" y="1627632"/>
            <a:ext cx="1572768" cy="1261872"/>
          </a:xfrm>
          <a:prstGeom prst="rect">
            <a:avLst/>
          </a:prstGeom>
          <a:solidFill>
            <a:srgbClr val="FDFAFB"/>
          </a:solidFill>
          <a:ln w="6350">
            <a:solidFill>
              <a:srgbClr val="B85C3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0" y="1627632"/>
            <a:ext cx="1572768" cy="347472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1645920"/>
            <a:ext cx="1435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Extraction HEX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2066544"/>
            <a:ext cx="14081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K-Means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image → couleur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02736" y="215798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B82"/>
                </a:solidFill>
              </a:rPr>
              <a:t>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94760" y="1627632"/>
            <a:ext cx="1572768" cy="1261872"/>
          </a:xfrm>
          <a:prstGeom prst="rect">
            <a:avLst/>
          </a:prstGeom>
          <a:solidFill>
            <a:srgbClr val="FDFAFB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94760" y="1627632"/>
            <a:ext cx="1572768" cy="347472"/>
          </a:xfrm>
          <a:prstGeom prst="rect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1645920"/>
            <a:ext cx="1435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Table produits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86200" y="2066544"/>
            <a:ext cx="14081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hex · lab · finish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stock · url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85816" y="215798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B82"/>
                </a:solidFill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77840" y="1627632"/>
            <a:ext cx="1572768" cy="1261872"/>
          </a:xfrm>
          <a:prstGeom prst="rect">
            <a:avLst/>
          </a:prstGeom>
          <a:solidFill>
            <a:srgbClr val="FDFAFB"/>
          </a:solidFill>
          <a:ln w="6350">
            <a:solidFill>
              <a:srgbClr val="6D2E4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77840" y="1627632"/>
            <a:ext cx="1572768" cy="34747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1645920"/>
            <a:ext cx="1435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Essai virtuel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2066544"/>
            <a:ext cx="14081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HEX réel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du produit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168896" y="215798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B82"/>
                </a:solidFill>
              </a:rPr>
              <a:t>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60920" y="1627632"/>
            <a:ext cx="1572768" cy="1261872"/>
          </a:xfrm>
          <a:prstGeom prst="rect">
            <a:avLst/>
          </a:prstGeom>
          <a:solidFill>
            <a:srgbClr val="FDFAFB"/>
          </a:solidFill>
          <a:ln w="6350">
            <a:solidFill>
              <a:srgbClr val="2B5BA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60920" y="1627632"/>
            <a:ext cx="1572768" cy="347472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1645920"/>
            <a:ext cx="1435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 Phase 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52360" y="2066544"/>
            <a:ext cx="14081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LAB distance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stock=true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017520"/>
            <a:ext cx="8595360" cy="685800"/>
          </a:xfrm>
          <a:prstGeom prst="rect">
            <a:avLst/>
          </a:prstGeom>
          <a:solidFill>
            <a:srgbClr val="F5F0FA"/>
          </a:solidFill>
          <a:ln w="6350">
            <a:solidFill>
              <a:srgbClr val="5B2C8D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017520"/>
            <a:ext cx="64008" cy="685800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044952"/>
            <a:ext cx="8275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8D"/>
                </a:solidFill>
              </a:rPr>
              <a:t>Synchronisation automatique 24h :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catalog_sync.py appelle l'API de l'entreprise · Extrait les couleurs · Met à jour la table · Marque hors-stock les produits absents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3822192"/>
            <a:ext cx="8595360" cy="594360"/>
          </a:xfrm>
          <a:prstGeom prst="rect">
            <a:avLst/>
          </a:prstGeom>
          <a:solidFill>
            <a:srgbClr val="EEF3FB"/>
          </a:solidFill>
          <a:ln w="6350">
            <a:solidFill>
              <a:srgbClr val="2B5BA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3822192"/>
            <a:ext cx="64008" cy="59436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49624"/>
            <a:ext cx="8275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BA8"/>
                </a:solidFill>
              </a:rPr>
              <a:t>Questions à poser à l'entreprise :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URL endpoint API · Format JSON/XML/CSV · Clé d'authentification · Fréquence de mise à jour du stock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" y="449884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5C38"/>
                </a:solidFill>
              </a:rPr>
              <a:t>Règle non négociable Phase 2 : toute recommandation est filtrée sur en_stock = true — jamais de produit hors catalogue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05 — Interface Utilisateur : Stratégie Streamlit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960120"/>
          </a:xfrm>
          <a:prstGeom prst="rect">
            <a:avLst/>
          </a:prstGeom>
          <a:solidFill>
            <a:srgbClr val="FDFAFB"/>
          </a:solidFill>
          <a:ln w="6350">
            <a:solidFill>
              <a:srgbClr val="5B2C8D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64008" cy="960120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78408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784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572768" y="960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4"/>
                </a:solidFill>
              </a:rPr>
              <a:t>Développement &amp; tests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39312" y="94183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5B2C8D">
              <a:alpha val="18000"/>
            </a:srgbClr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941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C8D"/>
                </a:solidFill>
              </a:rPr>
              <a:t>Streamlit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72768" y="134416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82"/>
                </a:solidFill>
              </a:rPr>
              <a:t>Rapide · webcam native · zéro JS · itération quotidienne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965960"/>
            <a:ext cx="8595360" cy="960120"/>
          </a:xfrm>
          <a:prstGeom prst="rect">
            <a:avLst/>
          </a:prstGeom>
          <a:solidFill>
            <a:srgbClr val="FDFAFB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965960"/>
            <a:ext cx="64008" cy="960120"/>
          </a:xfrm>
          <a:prstGeom prst="rect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075688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0756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DEMO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72768" y="2057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4"/>
                </a:solidFill>
              </a:rPr>
              <a:t>Démo encadrants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39312" y="203911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D7D6F">
              <a:alpha val="18000"/>
            </a:srgbClr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9312" y="2039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7D6F"/>
                </a:solidFill>
              </a:rPr>
              <a:t>Streamlit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72768" y="244144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82"/>
                </a:solidFill>
              </a:rPr>
              <a:t>Déployable Streamlit Cloud en 5 min · URL partageable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8595360" cy="960120"/>
          </a:xfrm>
          <a:prstGeom prst="rect">
            <a:avLst/>
          </a:prstGeom>
          <a:solidFill>
            <a:srgbClr val="FDFAFB"/>
          </a:solidFill>
          <a:ln w="6350">
            <a:solidFill>
              <a:srgbClr val="2B5BA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63240"/>
            <a:ext cx="64008" cy="96012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72968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729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OPTIONNEL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572768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4"/>
                </a:solidFill>
              </a:rPr>
              <a:t>Livrable final (optionnel)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39312" y="313639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B5BA8">
              <a:alpha val="18000"/>
            </a:srgbClr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9312" y="3136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A8"/>
                </a:solidFill>
              </a:rPr>
              <a:t>React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72768" y="353872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82"/>
                </a:solidFill>
              </a:rPr>
              <a:t>Plus professionnel · uniquement si temps disponible fin Mois 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8D"/>
                </a:solidFill>
              </a:rPr>
              <a:t>Fonctionnalités Streamlit natives pour ce projet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572000"/>
            <a:ext cx="1527048" cy="246888"/>
          </a:xfrm>
          <a:prstGeom prst="roundRect">
            <a:avLst>
              <a:gd name="adj" fmla="val 48148"/>
            </a:avLst>
          </a:prstGeom>
          <a:solidFill>
            <a:srgbClr val="5B2C8D">
              <a:alpha val="15000"/>
            </a:srgbClr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572000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2C8D"/>
                </a:solidFill>
              </a:rPr>
              <a:t>st.camera_input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911096" y="4572000"/>
            <a:ext cx="1124712" cy="246888"/>
          </a:xfrm>
          <a:prstGeom prst="roundRect">
            <a:avLst>
              <a:gd name="adj" fmla="val 48148"/>
            </a:avLst>
          </a:prstGeom>
          <a:solidFill>
            <a:srgbClr val="5B2C8D">
              <a:alpha val="15000"/>
            </a:srgbClr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11096" y="4572000"/>
            <a:ext cx="1124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2C8D"/>
                </a:solidFill>
              </a:rPr>
              <a:t>st.image()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45536" y="4572000"/>
            <a:ext cx="1527048" cy="246888"/>
          </a:xfrm>
          <a:prstGeom prst="roundRect">
            <a:avLst>
              <a:gd name="adj" fmla="val 48148"/>
            </a:avLst>
          </a:prstGeom>
          <a:solidFill>
            <a:srgbClr val="5B2C8D">
              <a:alpha val="15000"/>
            </a:srgbClr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4572000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2C8D"/>
                </a:solidFill>
              </a:rPr>
              <a:t>st.color_picker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82312" y="4572000"/>
            <a:ext cx="1285646" cy="246888"/>
          </a:xfrm>
          <a:prstGeom prst="roundRect">
            <a:avLst>
              <a:gd name="adj" fmla="val 48148"/>
            </a:avLst>
          </a:prstGeom>
          <a:solidFill>
            <a:srgbClr val="5B2C8D">
              <a:alpha val="15000"/>
            </a:srgbClr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82312" y="4572000"/>
            <a:ext cx="128564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2C8D"/>
                </a:solidFill>
              </a:rPr>
              <a:t>st.selectbox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77686" y="4572000"/>
            <a:ext cx="1527048" cy="246888"/>
          </a:xfrm>
          <a:prstGeom prst="roundRect">
            <a:avLst>
              <a:gd name="adj" fmla="val 48148"/>
            </a:avLst>
          </a:prstGeom>
          <a:solidFill>
            <a:srgbClr val="5B2C8D">
              <a:alpha val="15000"/>
            </a:srgbClr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7686" y="4572000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2C8D"/>
                </a:solidFill>
              </a:rPr>
              <a:t>Streamlit Cloud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06 — Planning 3 Mois &amp; KPIs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3246120"/>
          </a:xfrm>
          <a:prstGeom prst="rect">
            <a:avLst/>
          </a:prstGeom>
          <a:solidFill>
            <a:srgbClr val="FDFAFB"/>
          </a:solidFill>
          <a:ln w="6350">
            <a:solidFill>
              <a:srgbClr val="6D2E4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743200" cy="56692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412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Mois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09728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D0D8"/>
                </a:solidFill>
              </a:rPr>
              <a:t>Zone Teint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0D0D8"/>
                </a:solidFill>
              </a:rPr>
              <a:t>+ Lèvres raffinement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912" y="1517904"/>
            <a:ext cx="128016" cy="128016"/>
          </a:xfrm>
          <a:prstGeom prst="ellipse">
            <a:avLst/>
          </a:prstGeom>
          <a:solidFill>
            <a:srgbClr val="6D2E46">
              <a:alpha val="45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47218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Fond de teint · BB/CC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066544"/>
            <a:ext cx="128016" cy="128016"/>
          </a:xfrm>
          <a:prstGeom prst="ellipse">
            <a:avLst/>
          </a:prstGeom>
          <a:solidFill>
            <a:srgbClr val="6D2E46">
              <a:alpha val="45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02082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Anti-cernes · Contouring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" y="2615184"/>
            <a:ext cx="128016" cy="128016"/>
          </a:xfrm>
          <a:prstGeom prst="ellipse">
            <a:avLst/>
          </a:prstGeom>
          <a:solidFill>
            <a:srgbClr val="6D2E46">
              <a:alpha val="45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56946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Blush · Highlighter · Poudres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" y="3163824"/>
            <a:ext cx="128016" cy="128016"/>
          </a:xfrm>
          <a:prstGeom prst="ellipse">
            <a:avLst/>
          </a:prstGeom>
          <a:solidFill>
            <a:srgbClr val="6D2E46">
              <a:alpha val="45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1181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Primer + benchmarks &lt; 40ms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" y="3639312"/>
            <a:ext cx="2414016" cy="91440"/>
          </a:xfrm>
          <a:prstGeom prst="rect">
            <a:avLst/>
          </a:prstGeom>
          <a:solidFill>
            <a:srgbClr val="E8E0E3"/>
          </a:solidFill>
          <a:ln w="12700">
            <a:solidFill>
              <a:srgbClr val="E8E0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3639312"/>
            <a:ext cx="482803" cy="914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7764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7B82"/>
                </a:solidFill>
              </a:rPr>
              <a:t>20%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27832" y="804672"/>
            <a:ext cx="2743200" cy="3246120"/>
          </a:xfrm>
          <a:prstGeom prst="rect">
            <a:avLst/>
          </a:prstGeom>
          <a:solidFill>
            <a:srgbClr val="FDFAFB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27832" y="804672"/>
            <a:ext cx="2743200" cy="566928"/>
          </a:xfrm>
          <a:prstGeom prst="rect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8412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Mois 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109728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D0D8"/>
                </a:solidFill>
              </a:rPr>
              <a:t>Zone Yeux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0D0D8"/>
                </a:solidFill>
              </a:rPr>
              <a:t>+ Intégration Web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92424" y="1517904"/>
            <a:ext cx="128016" cy="128016"/>
          </a:xfrm>
          <a:prstGeom prst="ellipse">
            <a:avLst/>
          </a:prstGeom>
          <a:solidFill>
            <a:srgbClr val="2D7D6F">
              <a:alpha val="45000"/>
            </a:srgbClr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75304" y="147218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Fard · Base paupières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92424" y="2066544"/>
            <a:ext cx="128016" cy="128016"/>
          </a:xfrm>
          <a:prstGeom prst="ellipse">
            <a:avLst/>
          </a:prstGeom>
          <a:solidFill>
            <a:srgbClr val="2D7D6F">
              <a:alpha val="45000"/>
            </a:srgbClr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75304" y="202082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Eyeliner · Crayon yeux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92424" y="2615184"/>
            <a:ext cx="128016" cy="128016"/>
          </a:xfrm>
          <a:prstGeom prst="ellipse">
            <a:avLst/>
          </a:prstGeom>
          <a:solidFill>
            <a:srgbClr val="2D7D6F">
              <a:alpha val="45000"/>
            </a:srgbClr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75304" y="256946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Mascara · Sourcils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92424" y="3163824"/>
            <a:ext cx="128016" cy="128016"/>
          </a:xfrm>
          <a:prstGeom prst="ellipse">
            <a:avLst/>
          </a:prstGeom>
          <a:solidFill>
            <a:srgbClr val="2D7D6F">
              <a:alpha val="45000"/>
            </a:srgbClr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75304" y="31181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React/Streamlit + WebRTC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92424" y="3639312"/>
            <a:ext cx="2414016" cy="91440"/>
          </a:xfrm>
          <a:prstGeom prst="rect">
            <a:avLst/>
          </a:prstGeom>
          <a:solidFill>
            <a:srgbClr val="E8E0E3"/>
          </a:solidFill>
          <a:ln w="12700">
            <a:solidFill>
              <a:srgbClr val="E8E0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27832" y="37764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7B82"/>
                </a:solidFill>
              </a:rPr>
              <a:t>0%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81344" y="804672"/>
            <a:ext cx="2743200" cy="3246120"/>
          </a:xfrm>
          <a:prstGeom prst="rect">
            <a:avLst/>
          </a:prstGeom>
          <a:solidFill>
            <a:srgbClr val="FDFAFB"/>
          </a:solidFill>
          <a:ln w="6350">
            <a:solidFill>
              <a:srgbClr val="2B5BA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81344" y="804672"/>
            <a:ext cx="2743200" cy="566928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8412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Mois 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91072" y="109728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D0D8"/>
                </a:solidFill>
              </a:rPr>
              <a:t>Déploiement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0D0D8"/>
                </a:solidFill>
              </a:rPr>
              <a:t>+ Finalisation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45936" y="1517904"/>
            <a:ext cx="128016" cy="128016"/>
          </a:xfrm>
          <a:prstGeom prst="ellipse">
            <a:avLst/>
          </a:prstGeom>
          <a:solidFill>
            <a:srgbClr val="2B5BA8">
              <a:alpha val="45000"/>
            </a:srgbClr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28816" y="147218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Catalogue intégré + UI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45936" y="2066544"/>
            <a:ext cx="128016" cy="128016"/>
          </a:xfrm>
          <a:prstGeom prst="ellipse">
            <a:avLst/>
          </a:prstGeom>
          <a:solidFill>
            <a:srgbClr val="2B5BA8">
              <a:alpha val="45000"/>
            </a:srgbClr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28816" y="202082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Tests 10-15 utilisateurs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45936" y="2615184"/>
            <a:ext cx="128016" cy="128016"/>
          </a:xfrm>
          <a:prstGeom prst="ellipse">
            <a:avLst/>
          </a:prstGeom>
          <a:solidFill>
            <a:srgbClr val="2B5BA8">
              <a:alpha val="45000"/>
            </a:srgbClr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28816" y="256946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Docker · déploiement prod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45936" y="3163824"/>
            <a:ext cx="128016" cy="128016"/>
          </a:xfrm>
          <a:prstGeom prst="ellipse">
            <a:avLst/>
          </a:prstGeom>
          <a:solidFill>
            <a:srgbClr val="2B5BA8">
              <a:alpha val="45000"/>
            </a:srgbClr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28816" y="31181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Rapport + soutenance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45936" y="3639312"/>
            <a:ext cx="2414016" cy="91440"/>
          </a:xfrm>
          <a:prstGeom prst="rect">
            <a:avLst/>
          </a:prstGeom>
          <a:solidFill>
            <a:srgbClr val="E8E0E3"/>
          </a:solidFill>
          <a:ln w="12700">
            <a:solidFill>
              <a:srgbClr val="E8E0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81344" y="37764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7B82"/>
                </a:solidFill>
              </a:rPr>
              <a:t>0%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74320" y="41788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</a:rPr>
              <a:t>KPIs de succès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74320" y="4480560"/>
            <a:ext cx="2743200" cy="320040"/>
          </a:xfrm>
          <a:prstGeom prst="rect">
            <a:avLst/>
          </a:prstGeom>
          <a:solidFill>
            <a:srgbClr val="FDFAFB"/>
          </a:solidFill>
          <a:ln w="6350">
            <a:solidFill>
              <a:srgbClr val="E8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84048" y="4480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Latence frame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901952" y="4517136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2D7D6F">
              <a:alpha val="15000"/>
            </a:srgbClr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01952" y="45171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6F"/>
                </a:solidFill>
              </a:rPr>
              <a:t>&lt; 40ms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0" y="4480560"/>
            <a:ext cx="2743200" cy="320040"/>
          </a:xfrm>
          <a:prstGeom prst="rect">
            <a:avLst/>
          </a:prstGeom>
          <a:solidFill>
            <a:srgbClr val="FDFAFB"/>
          </a:solidFill>
          <a:ln w="6350">
            <a:solidFill>
              <a:srgbClr val="E8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3310128" y="4480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Fréquence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28032" y="4517136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2D7D6F">
              <a:alpha val="15000"/>
            </a:srgbClr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28032" y="45171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6F"/>
                </a:solidFill>
              </a:rPr>
              <a:t>≥ 25 FPS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26480" y="4480560"/>
            <a:ext cx="2743200" cy="320040"/>
          </a:xfrm>
          <a:prstGeom prst="rect">
            <a:avLst/>
          </a:prstGeom>
          <a:solidFill>
            <a:srgbClr val="FDFAFB"/>
          </a:solidFill>
          <a:ln w="6350">
            <a:solidFill>
              <a:srgbClr val="E8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236208" y="4480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Couverture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4112" y="4517136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2D7D6F">
              <a:alpha val="15000"/>
            </a:srgbClr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4112" y="45171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6F"/>
                </a:solidFill>
              </a:rPr>
              <a:t>18/18 produits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4480560"/>
            <a:ext cx="2743200" cy="320040"/>
          </a:xfrm>
          <a:prstGeom prst="rect">
            <a:avLst/>
          </a:prstGeom>
          <a:solidFill>
            <a:srgbClr val="FDFAFB"/>
          </a:solidFill>
          <a:ln w="6350">
            <a:solidFill>
              <a:srgbClr val="E8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384048" y="4480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Satisfaction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901952" y="4517136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2D7D6F">
              <a:alpha val="15000"/>
            </a:srgbClr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901952" y="45171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6F"/>
                </a:solidFill>
              </a:rPr>
              <a:t>≥ 4/5 testeurs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00400" y="4480560"/>
            <a:ext cx="2743200" cy="320040"/>
          </a:xfrm>
          <a:prstGeom prst="rect">
            <a:avLst/>
          </a:prstGeom>
          <a:solidFill>
            <a:srgbClr val="FDFAFB"/>
          </a:solidFill>
          <a:ln w="6350">
            <a:solidFill>
              <a:srgbClr val="E8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3310128" y="4480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Fitzpatrick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828032" y="4517136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2D7D6F">
              <a:alpha val="15000"/>
            </a:srgbClr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28032" y="45171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6F"/>
                </a:solidFill>
              </a:rPr>
              <a:t>≥ 80% précision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126480" y="4480560"/>
            <a:ext cx="2743200" cy="320040"/>
          </a:xfrm>
          <a:prstGeom prst="rect">
            <a:avLst/>
          </a:prstGeom>
          <a:solidFill>
            <a:srgbClr val="FDFAFB"/>
          </a:solidFill>
          <a:ln w="6350">
            <a:solidFill>
              <a:srgbClr val="E8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6236208" y="4480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RGPD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754112" y="4517136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2D7D6F">
              <a:alpha val="15000"/>
            </a:srgbClr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754112" y="45171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6F"/>
                </a:solidFill>
              </a:rPr>
              <a:t>Traitement local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548640"/>
            <a:ext cx="3474720" cy="3474720"/>
          </a:xfrm>
          <a:prstGeom prst="ellipse">
            <a:avLst/>
          </a:prstGeom>
          <a:solidFill>
            <a:srgbClr val="6D2E46">
              <a:alpha val="22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840480"/>
            <a:ext cx="1828800" cy="1828800"/>
          </a:xfrm>
          <a:prstGeom prst="ellipse">
            <a:avLst/>
          </a:prstGeom>
          <a:solidFill>
            <a:srgbClr val="C8956B">
              <a:alpha val="18000"/>
            </a:srgbClr>
          </a:solidFill>
          <a:ln w="12700">
            <a:solidFill>
              <a:srgbClr val="C895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64008" cy="1737360"/>
          </a:xfrm>
          <a:prstGeom prst="rect">
            <a:avLst/>
          </a:prstGeom>
          <a:solidFill>
            <a:srgbClr val="C8956B"/>
          </a:solidFill>
          <a:ln w="12700">
            <a:solidFill>
              <a:srgbClr val="C895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754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56B"/>
                </a:solidFill>
              </a:rPr>
              <a:t>Ce que nous avons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841248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accompli &amp; validé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15361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A0AA"/>
                </a:solidFill>
              </a:rPr>
              <a:t>Fondations complètes — prêt pour l'implémentation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4160520" cy="530352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2D7D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2221992"/>
            <a:ext cx="201168" cy="201168"/>
          </a:xfrm>
          <a:prstGeom prst="ellipse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05740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CDC v3 structuré et complet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92040" y="2057400"/>
            <a:ext cx="4160520" cy="530352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2B5B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38344" y="2221992"/>
            <a:ext cx="201168" cy="201168"/>
          </a:xfrm>
          <a:prstGeom prst="ellipse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0952" y="205740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Architecture technique validée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4160520" cy="530352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6D2E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" y="2862072"/>
            <a:ext cx="201168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69748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Démo lèvres MediaPipe Tasks fonctionnelle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92040" y="2697480"/>
            <a:ext cx="4160520" cy="530352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B85C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38344" y="2862072"/>
            <a:ext cx="201168" cy="201168"/>
          </a:xfrm>
          <a:prstGeom prst="ellipse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269748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Pipeline couleur-produit conçu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4160520" cy="530352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5B2C8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" y="3502152"/>
            <a:ext cx="201168" cy="201168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333756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Interface Streamlit décidée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92040" y="3337560"/>
            <a:ext cx="4160520" cy="530352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2E7D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38344" y="3502152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30952" y="333756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Workflow VS Code + Claude Code validé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041648"/>
            <a:ext cx="8229600" cy="502920"/>
          </a:xfrm>
          <a:prstGeom prst="rect">
            <a:avLst/>
          </a:prstGeom>
          <a:solidFill>
            <a:srgbClr val="C8956B">
              <a:alpha val="16000"/>
            </a:srgbClr>
          </a:solidFill>
          <a:ln w="12700">
            <a:solidFill>
              <a:srgbClr val="C895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05993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56B"/>
                </a:solidFill>
              </a:rPr>
              <a:t>Prochaine étape immédiate 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Valider CDC avec encadrants · Setup VS Code · Demander API catalogue · Implémenter zones/skin.py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0" y="473659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A4A56"/>
                </a:solidFill>
              </a:rPr>
              <a:t>Merci pour votre attention — Questions 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PFE Cosmétique — Présentation Encadrants v2</dc:title>
  <dc:subject>PptxGenJS Presentation</dc:subject>
  <dc:creator>PptxGenJS</dc:creator>
  <cp:lastModifiedBy>PptxGenJS</cp:lastModifiedBy>
  <cp:revision>1</cp:revision>
  <dcterms:created xsi:type="dcterms:W3CDTF">2026-04-01T09:52:52Z</dcterms:created>
  <dcterms:modified xsi:type="dcterms:W3CDTF">2026-04-01T09:52:52Z</dcterms:modified>
</cp:coreProperties>
</file>